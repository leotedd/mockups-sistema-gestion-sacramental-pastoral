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C1567B-52D1-4EFA-A1F3-4A5B8CEDEE32}" v="3" dt="2026-09-02T13:13:57.6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ddy Leonardo Hernandez" userId="8d5b95962acf6b7d" providerId="LiveId" clId="{6F3F3819-9EE9-4C2B-B446-3458103DC2C1}"/>
    <pc:docChg chg="modSld">
      <pc:chgData name="Teddy Leonardo Hernandez" userId="8d5b95962acf6b7d" providerId="LiveId" clId="{6F3F3819-9EE9-4C2B-B446-3458103DC2C1}" dt="2026-09-02T13:13:57.686" v="18"/>
      <pc:docMkLst>
        <pc:docMk/>
      </pc:docMkLst>
      <pc:sldChg chg="modSp mod">
        <pc:chgData name="Teddy Leonardo Hernandez" userId="8d5b95962acf6b7d" providerId="LiveId" clId="{6F3F3819-9EE9-4C2B-B446-3458103DC2C1}" dt="2026-09-02T13:11:18.130" v="5" actId="113"/>
        <pc:sldMkLst>
          <pc:docMk/>
          <pc:sldMk cId="0" sldId="261"/>
        </pc:sldMkLst>
        <pc:spChg chg="mod">
          <ac:chgData name="Teddy Leonardo Hernandez" userId="8d5b95962acf6b7d" providerId="LiveId" clId="{6F3F3819-9EE9-4C2B-B446-3458103DC2C1}" dt="2026-09-02T13:11:18.130" v="5" actId="113"/>
          <ac:spMkLst>
            <pc:docMk/>
            <pc:sldMk cId="0" sldId="261"/>
            <ac:spMk id="11" creationId="{00000000-0000-0000-0000-000000000000}"/>
          </ac:spMkLst>
        </pc:spChg>
      </pc:sldChg>
      <pc:sldChg chg="modSp mod">
        <pc:chgData name="Teddy Leonardo Hernandez" userId="8d5b95962acf6b7d" providerId="LiveId" clId="{6F3F3819-9EE9-4C2B-B446-3458103DC2C1}" dt="2026-09-02T13:12:47.140" v="12" actId="207"/>
        <pc:sldMkLst>
          <pc:docMk/>
          <pc:sldMk cId="0" sldId="270"/>
        </pc:sldMkLst>
        <pc:spChg chg="mod">
          <ac:chgData name="Teddy Leonardo Hernandez" userId="8d5b95962acf6b7d" providerId="LiveId" clId="{6F3F3819-9EE9-4C2B-B446-3458103DC2C1}" dt="2026-09-02T13:12:47.140" v="12" actId="207"/>
          <ac:spMkLst>
            <pc:docMk/>
            <pc:sldMk cId="0" sldId="270"/>
            <ac:spMk id="11" creationId="{00000000-0000-0000-0000-000000000000}"/>
          </ac:spMkLst>
        </pc:spChg>
      </pc:sldChg>
      <pc:sldChg chg="modSp mod">
        <pc:chgData name="Teddy Leonardo Hernandez" userId="8d5b95962acf6b7d" providerId="LiveId" clId="{6F3F3819-9EE9-4C2B-B446-3458103DC2C1}" dt="2026-09-02T13:13:57.686" v="18"/>
        <pc:sldMkLst>
          <pc:docMk/>
          <pc:sldMk cId="0" sldId="273"/>
        </pc:sldMkLst>
        <pc:spChg chg="mod">
          <ac:chgData name="Teddy Leonardo Hernandez" userId="8d5b95962acf6b7d" providerId="LiveId" clId="{6F3F3819-9EE9-4C2B-B446-3458103DC2C1}" dt="2026-09-02T13:13:57.686" v="18"/>
          <ac:spMkLst>
            <pc:docMk/>
            <pc:sldMk cId="0" sldId="273"/>
            <ac:spMk id="3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5C0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6576"/>
            <a:ext cx="8131759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Módulo Celebraciones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1"/>
          </a:xfrm>
          <a:prstGeom prst="rect">
            <a:avLst/>
          </a:prstGeom>
          <a:solidFill>
            <a:srgbClr val="F1E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18288"/>
          </a:xfrm>
          <a:prstGeom prst="rect">
            <a:avLst/>
          </a:prstGeom>
          <a:solidFill>
            <a:srgbClr val="C3B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6510528"/>
            <a:ext cx="9686239" cy="3474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i="0">
                <a:solidFill>
                  <a:srgbClr val="6F6A64"/>
                </a:solidFill>
                <a:latin typeface="Segoe UI"/>
              </a:rPr>
              <a:t>Módulo Celebraciones · Sistema Integral de Gestión Sacramental y Pastoral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53167" y="6510528"/>
            <a:ext cx="1371600" cy="3474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 i="0">
                <a:solidFill>
                  <a:srgbClr val="7D1A30"/>
                </a:solidFill>
                <a:latin typeface="Segoe UI"/>
              </a:rPr>
              <a:t>01 /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5C061B"/>
                </a:solidFill>
                <a:latin typeface="Segoe UI"/>
              </a:rPr>
              <a:t>Celebraciones parroquiales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395728"/>
            <a:ext cx="110578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6F6A64"/>
                </a:solidFill>
                <a:latin typeface="Segoe UI"/>
              </a:rPr>
              <a:t>Programación sacramental y pastoral · Parroquia Santa Cruz, Chiquimulilla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063240"/>
            <a:ext cx="11057839" cy="25603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3383280"/>
            <a:ext cx="11057839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 i="0">
                <a:solidFill>
                  <a:srgbClr val="433E39"/>
                </a:solidFill>
                <a:latin typeface="Segoe UI"/>
              </a:rPr>
              <a:t>El módulo Celebraciones permite administrar la programación de las celebraciones parroquiales, centralizando la información de fechas, horarios, lugares, celebrantes, intenciones y estados de cada celebración.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709160"/>
            <a:ext cx="11057839" cy="1417320"/>
          </a:xfrm>
          <a:prstGeom prst="roundRect">
            <a:avLst>
              <a:gd name="adj" fmla="val 8000"/>
            </a:avLst>
          </a:prstGeom>
          <a:solidFill>
            <a:srgbClr val="F1E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66928" y="4709160"/>
            <a:ext cx="82296" cy="14173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6968" y="4828032"/>
            <a:ext cx="10417759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5C061B"/>
                </a:solidFill>
                <a:latin typeface="Segoe UI"/>
              </a:rPr>
              <a:t>OBJETIVO GENERAL</a:t>
            </a:r>
          </a:p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433E39"/>
                </a:solidFill>
                <a:latin typeface="Segoe UI"/>
              </a:rPr>
              <a:t>Ofrecer a la secretaría parroquial una herramienta única para registrar, consultar, editar y dar seguimiento a todas las celebraciones, con una vista de listado y una vista de calendario, garantizando datos completos y coherentes.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5C0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6576"/>
            <a:ext cx="8131759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Flujo general del módulo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98687" y="36576"/>
            <a:ext cx="292608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 i="0">
                <a:solidFill>
                  <a:srgbClr val="F6ECCF"/>
                </a:solidFill>
                <a:latin typeface="Segoe UI"/>
              </a:rPr>
              <a:t>MÓDULO CELEBRACIONES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1"/>
          </a:xfrm>
          <a:prstGeom prst="rect">
            <a:avLst/>
          </a:prstGeom>
          <a:solidFill>
            <a:srgbClr val="F1E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18288"/>
          </a:xfrm>
          <a:prstGeom prst="rect">
            <a:avLst/>
          </a:prstGeom>
          <a:solidFill>
            <a:srgbClr val="C3B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9686239" cy="3474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i="0">
                <a:solidFill>
                  <a:srgbClr val="6F6A64"/>
                </a:solidFill>
                <a:latin typeface="Segoe UI"/>
              </a:rPr>
              <a:t>Módulo Celebraciones · Sistema Integral de Gestión Sacramental y Pastoral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53167" y="6510528"/>
            <a:ext cx="1371600" cy="3474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 i="0">
                <a:solidFill>
                  <a:srgbClr val="7D1A30"/>
                </a:solidFill>
                <a:latin typeface="Segoe UI"/>
              </a:rPr>
              <a:t>02 / 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225296"/>
            <a:ext cx="5486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D1A30"/>
                </a:solidFill>
                <a:latin typeface="Segoe UI"/>
              </a:rPr>
              <a:t>FLUJO DE REGISTRO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1572768"/>
            <a:ext cx="1947672" cy="731520"/>
          </a:xfrm>
          <a:prstGeom prst="roundRect">
            <a:avLst>
              <a:gd name="adj" fmla="val 16000"/>
            </a:avLst>
          </a:prstGeom>
          <a:solidFill>
            <a:srgbClr val="F1ECDF"/>
          </a:solidFill>
          <a:ln w="15875">
            <a:solidFill>
              <a:srgbClr val="C9A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>
                <a:solidFill>
                  <a:srgbClr val="5C061B"/>
                </a:solidFill>
                <a:latin typeface="Segoe UI"/>
              </a:rPr>
              <a:t>Listado de
celebraciones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569464" y="1828800"/>
            <a:ext cx="256032" cy="219456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880360" y="1572768"/>
            <a:ext cx="1947672" cy="731520"/>
          </a:xfrm>
          <a:prstGeom prst="roundRect">
            <a:avLst>
              <a:gd name="adj" fmla="val 16000"/>
            </a:avLst>
          </a:prstGeom>
          <a:solidFill>
            <a:srgbClr val="F1ECDF"/>
          </a:solidFill>
          <a:ln w="15875">
            <a:solidFill>
              <a:srgbClr val="C9A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>
                <a:solidFill>
                  <a:srgbClr val="5C061B"/>
                </a:solidFill>
                <a:latin typeface="Segoe UI"/>
              </a:rPr>
              <a:t>Nueva
celebración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82895" y="1828800"/>
            <a:ext cx="256032" cy="219456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193792" y="1572768"/>
            <a:ext cx="1947672" cy="731520"/>
          </a:xfrm>
          <a:prstGeom prst="roundRect">
            <a:avLst>
              <a:gd name="adj" fmla="val 16000"/>
            </a:avLst>
          </a:prstGeom>
          <a:solidFill>
            <a:srgbClr val="F1ECDF"/>
          </a:solidFill>
          <a:ln w="15875">
            <a:solidFill>
              <a:srgbClr val="C9A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>
                <a:solidFill>
                  <a:srgbClr val="5C061B"/>
                </a:solidFill>
                <a:latin typeface="Segoe UI"/>
              </a:rPr>
              <a:t>Datos
generales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196327" y="1828800"/>
            <a:ext cx="256032" cy="219456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507223" y="1572768"/>
            <a:ext cx="1947672" cy="731520"/>
          </a:xfrm>
          <a:prstGeom prst="roundRect">
            <a:avLst>
              <a:gd name="adj" fmla="val 16000"/>
            </a:avLst>
          </a:prstGeom>
          <a:solidFill>
            <a:srgbClr val="F1ECDF"/>
          </a:solidFill>
          <a:ln w="15875">
            <a:solidFill>
              <a:srgbClr val="C9A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>
                <a:solidFill>
                  <a:srgbClr val="5C061B"/>
                </a:solidFill>
                <a:latin typeface="Segoe UI"/>
              </a:rPr>
              <a:t>Celebrantes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509760" y="1828800"/>
            <a:ext cx="256032" cy="219456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820655" y="1572768"/>
            <a:ext cx="1947672" cy="731520"/>
          </a:xfrm>
          <a:prstGeom prst="roundRect">
            <a:avLst>
              <a:gd name="adj" fmla="val 16000"/>
            </a:avLst>
          </a:prstGeom>
          <a:solidFill>
            <a:srgbClr val="F1ECDF"/>
          </a:solidFill>
          <a:ln w="15875">
            <a:solidFill>
              <a:srgbClr val="C9A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>
                <a:solidFill>
                  <a:srgbClr val="5C061B"/>
                </a:solidFill>
                <a:latin typeface="Segoe UI"/>
              </a:rPr>
              <a:t>Intenciones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10684763" y="2350008"/>
            <a:ext cx="219456" cy="310896"/>
          </a:xfrm>
          <a:prstGeom prst="down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820655" y="2852928"/>
            <a:ext cx="1947672" cy="731520"/>
          </a:xfrm>
          <a:prstGeom prst="roundRect">
            <a:avLst>
              <a:gd name="adj" fmla="val 16000"/>
            </a:avLst>
          </a:prstGeom>
          <a:solidFill>
            <a:srgbClr val="F1ECDF"/>
          </a:solidFill>
          <a:ln w="15875">
            <a:solidFill>
              <a:srgbClr val="C9A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>
                <a:solidFill>
                  <a:srgbClr val="5C061B"/>
                </a:solidFill>
                <a:latin typeface="Segoe UI"/>
              </a:rPr>
              <a:t>Guardar</a:t>
            </a:r>
          </a:p>
        </p:txBody>
      </p:sp>
      <p:sp>
        <p:nvSpPr>
          <p:cNvPr id="23" name="Left Arrow 22"/>
          <p:cNvSpPr/>
          <p:nvPr/>
        </p:nvSpPr>
        <p:spPr>
          <a:xfrm>
            <a:off x="9509759" y="3108960"/>
            <a:ext cx="256032" cy="219456"/>
          </a:xfrm>
          <a:prstGeom prst="lef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507223" y="2852928"/>
            <a:ext cx="1947672" cy="731520"/>
          </a:xfrm>
          <a:prstGeom prst="roundRect">
            <a:avLst>
              <a:gd name="adj" fmla="val 16000"/>
            </a:avLst>
          </a:prstGeom>
          <a:solidFill>
            <a:srgbClr val="F6ECCF"/>
          </a:solidFill>
          <a:ln w="15875">
            <a:solidFill>
              <a:srgbClr val="C9A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>
                <a:solidFill>
                  <a:srgbClr val="5C061B"/>
                </a:solidFill>
                <a:latin typeface="Segoe UI"/>
              </a:rPr>
              <a:t>Detalle de
celebración</a:t>
            </a:r>
          </a:p>
        </p:txBody>
      </p:sp>
      <p:sp>
        <p:nvSpPr>
          <p:cNvPr id="25" name="Left Arrow 24"/>
          <p:cNvSpPr/>
          <p:nvPr/>
        </p:nvSpPr>
        <p:spPr>
          <a:xfrm>
            <a:off x="7196327" y="3108960"/>
            <a:ext cx="256032" cy="219456"/>
          </a:xfrm>
          <a:prstGeom prst="lef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93792" y="2670048"/>
            <a:ext cx="1947672" cy="512064"/>
          </a:xfrm>
          <a:prstGeom prst="roundRect">
            <a:avLst>
              <a:gd name="adj" fmla="val 16000"/>
            </a:avLst>
          </a:prstGeom>
          <a:solidFill>
            <a:srgbClr val="F1ECDF"/>
          </a:solidFill>
          <a:ln w="15875">
            <a:solidFill>
              <a:srgbClr val="C9A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>
                <a:solidFill>
                  <a:srgbClr val="5C061B"/>
                </a:solidFill>
                <a:latin typeface="Segoe UI"/>
              </a:rPr>
              <a:t>Editar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93792" y="3255264"/>
            <a:ext cx="1947672" cy="512064"/>
          </a:xfrm>
          <a:prstGeom prst="roundRect">
            <a:avLst>
              <a:gd name="adj" fmla="val 16000"/>
            </a:avLst>
          </a:prstGeom>
          <a:solidFill>
            <a:srgbClr val="F1ECDF"/>
          </a:solidFill>
          <a:ln w="15875">
            <a:solidFill>
              <a:srgbClr val="C9A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>
                <a:solidFill>
                  <a:srgbClr val="5C061B"/>
                </a:solidFill>
                <a:latin typeface="Segoe UI"/>
              </a:rPr>
              <a:t>Imprimir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4041648"/>
            <a:ext cx="11057839" cy="18288"/>
          </a:xfrm>
          <a:prstGeom prst="rect">
            <a:avLst/>
          </a:prstGeom>
          <a:solidFill>
            <a:srgbClr val="C3B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6928" y="4224528"/>
            <a:ext cx="5486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D1A30"/>
                </a:solidFill>
                <a:latin typeface="Segoe UI"/>
              </a:rPr>
              <a:t>FLUJO DE CONSULTA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608576"/>
            <a:ext cx="1947672" cy="731520"/>
          </a:xfrm>
          <a:prstGeom prst="roundRect">
            <a:avLst>
              <a:gd name="adj" fmla="val 16000"/>
            </a:avLst>
          </a:prstGeom>
          <a:solidFill>
            <a:srgbClr val="F1ECDF"/>
          </a:solidFill>
          <a:ln w="15875">
            <a:solidFill>
              <a:srgbClr val="C9A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>
                <a:solidFill>
                  <a:srgbClr val="5C061B"/>
                </a:solidFill>
                <a:latin typeface="Segoe UI"/>
              </a:rPr>
              <a:t>Listado de
celebraciones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2569464" y="4864608"/>
            <a:ext cx="256032" cy="219456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2880360" y="4608576"/>
            <a:ext cx="1947672" cy="731520"/>
          </a:xfrm>
          <a:prstGeom prst="roundRect">
            <a:avLst>
              <a:gd name="adj" fmla="val 16000"/>
            </a:avLst>
          </a:prstGeom>
          <a:solidFill>
            <a:srgbClr val="F1ECDF"/>
          </a:solidFill>
          <a:ln w="15875">
            <a:solidFill>
              <a:srgbClr val="C9A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>
                <a:solidFill>
                  <a:srgbClr val="5C061B"/>
                </a:solidFill>
                <a:latin typeface="Segoe UI"/>
              </a:rPr>
              <a:t>Calendario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4882895" y="4864608"/>
            <a:ext cx="256032" cy="219456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93792" y="4608576"/>
            <a:ext cx="3319272" cy="731520"/>
          </a:xfrm>
          <a:prstGeom prst="roundRect">
            <a:avLst>
              <a:gd name="adj" fmla="val 16000"/>
            </a:avLst>
          </a:prstGeom>
          <a:solidFill>
            <a:srgbClr val="F1ECDF"/>
          </a:solidFill>
          <a:ln w="15875">
            <a:solidFill>
              <a:srgbClr val="C9A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>
                <a:solidFill>
                  <a:srgbClr val="5C061B"/>
                </a:solidFill>
                <a:latin typeface="Segoe UI"/>
              </a:rPr>
              <a:t>Día · Laboral ·
Semana · Mes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8567928" y="4864608"/>
            <a:ext cx="256032" cy="219456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8878824" y="4608576"/>
            <a:ext cx="2084831" cy="731520"/>
          </a:xfrm>
          <a:prstGeom prst="roundRect">
            <a:avLst>
              <a:gd name="adj" fmla="val 16000"/>
            </a:avLst>
          </a:prstGeom>
          <a:solidFill>
            <a:srgbClr val="F6ECCF"/>
          </a:solidFill>
          <a:ln w="15875">
            <a:solidFill>
              <a:srgbClr val="C9A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>
                <a:solidFill>
                  <a:srgbClr val="5C061B"/>
                </a:solidFill>
                <a:latin typeface="Segoe UI"/>
              </a:rPr>
              <a:t>Detalle de
celebración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5C0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6576"/>
            <a:ext cx="8131759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Listado de celebraciones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98687" y="36576"/>
            <a:ext cx="292608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 i="0">
                <a:solidFill>
                  <a:srgbClr val="F6ECCF"/>
                </a:solidFill>
                <a:latin typeface="Segoe UI"/>
              </a:rPr>
              <a:t>MÓDULO CELEBRACIONES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1"/>
          </a:xfrm>
          <a:prstGeom prst="rect">
            <a:avLst/>
          </a:prstGeom>
          <a:solidFill>
            <a:srgbClr val="F1E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18288"/>
          </a:xfrm>
          <a:prstGeom prst="rect">
            <a:avLst/>
          </a:prstGeom>
          <a:solidFill>
            <a:srgbClr val="C3B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9686239" cy="3474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i="0">
                <a:solidFill>
                  <a:srgbClr val="6F6A64"/>
                </a:solidFill>
                <a:latin typeface="Segoe UI"/>
              </a:rPr>
              <a:t>Módulo Celebraciones · Sistema Integral de Gestión Sacramental y Pastoral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53167" y="6510528"/>
            <a:ext cx="1371600" cy="3474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 i="0">
                <a:solidFill>
                  <a:srgbClr val="7D1A30"/>
                </a:solidFill>
                <a:latin typeface="Segoe UI"/>
              </a:rPr>
              <a:t>03 / 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161288"/>
            <a:ext cx="379476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0" i="0">
                <a:solidFill>
                  <a:srgbClr val="C9A94A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433E39"/>
                </a:solidFill>
                <a:latin typeface="Segoe UI"/>
              </a:rPr>
              <a:t>Consulta general de todas las celebraciones registradas.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0" i="0">
                <a:solidFill>
                  <a:srgbClr val="C9A94A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433E39"/>
                </a:solidFill>
                <a:latin typeface="Segoe UI"/>
              </a:rPr>
              <a:t>Búsqueda por texto: tipo, lugar, celebrante o intención.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0" i="0">
                <a:solidFill>
                  <a:srgbClr val="C9A94A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433E39"/>
                </a:solidFill>
                <a:latin typeface="Segoe UI"/>
              </a:rPr>
              <a:t>Filtros por rango de fechas (Desde / Hasta).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0" i="0">
                <a:solidFill>
                  <a:srgbClr val="C9A94A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433E39"/>
                </a:solidFill>
                <a:latin typeface="Segoe UI"/>
              </a:rPr>
              <a:t>Filtro por tipo de celebración y por lugar.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0" i="0">
                <a:solidFill>
                  <a:srgbClr val="C9A94A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433E39"/>
                </a:solidFill>
                <a:latin typeface="Segoe UI"/>
              </a:rPr>
              <a:t>Botones Buscar y Limpiar filtros.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0" i="0">
                <a:solidFill>
                  <a:srgbClr val="C9A94A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433E39"/>
                </a:solidFill>
                <a:latin typeface="Segoe UI"/>
              </a:rPr>
              <a:t>Columna Estado con distinción visual por color.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0" i="0">
                <a:solidFill>
                  <a:srgbClr val="C9A94A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433E39"/>
                </a:solidFill>
                <a:latin typeface="Segoe UI"/>
              </a:rPr>
              <a:t>Paginación de resultados.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0" i="0">
                <a:solidFill>
                  <a:srgbClr val="C9A94A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433E39"/>
                </a:solidFill>
                <a:latin typeface="Segoe UI"/>
              </a:rPr>
              <a:t>Acciones por fila: Ver y Editar.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0" i="0">
                <a:solidFill>
                  <a:srgbClr val="C9A94A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433E39"/>
                </a:solidFill>
                <a:latin typeface="Segoe UI"/>
              </a:rPr>
              <a:t>Acceso directo a Nueva celebración.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62856" y="1541907"/>
            <a:ext cx="7114032" cy="4487418"/>
          </a:xfrm>
          <a:prstGeom prst="rect">
            <a:avLst/>
          </a:prstGeom>
          <a:solidFill>
            <a:srgbClr val="FFFFFF"/>
          </a:solidFill>
          <a:ln w="12700">
            <a:solidFill>
              <a:srgbClr val="C3B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01_listado_celebraci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596771"/>
            <a:ext cx="7004304" cy="43776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5C0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6576"/>
            <a:ext cx="8131759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Registro de una celebración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98687" y="36576"/>
            <a:ext cx="292608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 i="0">
                <a:solidFill>
                  <a:srgbClr val="F6ECCF"/>
                </a:solidFill>
                <a:latin typeface="Segoe UI"/>
              </a:rPr>
              <a:t>MÓDULO CELEBRACIONES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1"/>
          </a:xfrm>
          <a:prstGeom prst="rect">
            <a:avLst/>
          </a:prstGeom>
          <a:solidFill>
            <a:srgbClr val="F1E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18288"/>
          </a:xfrm>
          <a:prstGeom prst="rect">
            <a:avLst/>
          </a:prstGeom>
          <a:solidFill>
            <a:srgbClr val="C3B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9686239" cy="3474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i="0">
                <a:solidFill>
                  <a:srgbClr val="6F6A64"/>
                </a:solidFill>
                <a:latin typeface="Segoe UI"/>
              </a:rPr>
              <a:t>Módulo Celebraciones · Sistema Integral de Gestión Sacramental y Pastoral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53167" y="6510528"/>
            <a:ext cx="1371600" cy="3474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 i="0">
                <a:solidFill>
                  <a:srgbClr val="7D1A30"/>
                </a:solidFill>
                <a:latin typeface="Segoe UI"/>
              </a:rPr>
              <a:t>04 / 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161288"/>
            <a:ext cx="4160520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50" b="0" i="0">
                <a:solidFill>
                  <a:srgbClr val="C9A94A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433E39"/>
                </a:solidFill>
                <a:latin typeface="Segoe UI"/>
              </a:rPr>
              <a:t>Formulario dividido en secciones: Datos generales, Celebrantes e Intenciones.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50" b="0" i="0">
                <a:solidFill>
                  <a:srgbClr val="C9A94A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433E39"/>
                </a:solidFill>
                <a:latin typeface="Segoe UI"/>
              </a:rPr>
              <a:t>Datos generales:</a:t>
            </a:r>
          </a:p>
          <a:p>
            <a:pPr lvl="1" algn="l">
              <a:lnSpc>
                <a:spcPct val="106000"/>
              </a:lnSpc>
              <a:spcAft>
                <a:spcPts val="200"/>
              </a:spcAft>
            </a:pPr>
            <a:r>
              <a:rPr sz="1150" b="0" i="0">
                <a:solidFill>
                  <a:srgbClr val="C9A94A"/>
                </a:solidFill>
                <a:latin typeface="Segoe UI"/>
              </a:rPr>
              <a:t>– </a:t>
            </a:r>
            <a:r>
              <a:rPr sz="1150" b="0" i="0">
                <a:solidFill>
                  <a:srgbClr val="433E39"/>
                </a:solidFill>
                <a:latin typeface="Segoe UI"/>
              </a:rPr>
              <a:t>Tipo de celebración (obligatorio)</a:t>
            </a:r>
          </a:p>
          <a:p>
            <a:pPr lvl="1" algn="l">
              <a:lnSpc>
                <a:spcPct val="106000"/>
              </a:lnSpc>
              <a:spcAft>
                <a:spcPts val="200"/>
              </a:spcAft>
            </a:pPr>
            <a:r>
              <a:rPr sz="1150" b="0" i="0">
                <a:solidFill>
                  <a:srgbClr val="C9A94A"/>
                </a:solidFill>
                <a:latin typeface="Segoe UI"/>
              </a:rPr>
              <a:t>– </a:t>
            </a:r>
            <a:r>
              <a:rPr sz="1150" b="0" i="0">
                <a:solidFill>
                  <a:srgbClr val="433E39"/>
                </a:solidFill>
                <a:latin typeface="Segoe UI"/>
              </a:rPr>
              <a:t>Fecha (obligatorio)</a:t>
            </a:r>
          </a:p>
          <a:p>
            <a:pPr lvl="1" algn="l">
              <a:lnSpc>
                <a:spcPct val="106000"/>
              </a:lnSpc>
              <a:spcAft>
                <a:spcPts val="200"/>
              </a:spcAft>
            </a:pPr>
            <a:r>
              <a:rPr sz="1150" b="0" i="0">
                <a:solidFill>
                  <a:srgbClr val="C9A94A"/>
                </a:solidFill>
                <a:latin typeface="Segoe UI"/>
              </a:rPr>
              <a:t>– </a:t>
            </a:r>
            <a:r>
              <a:rPr sz="1150" b="0" i="0">
                <a:solidFill>
                  <a:srgbClr val="433E39"/>
                </a:solidFill>
                <a:latin typeface="Segoe UI"/>
              </a:rPr>
              <a:t>Hora desde (obligatorio)</a:t>
            </a:r>
          </a:p>
          <a:p>
            <a:pPr lvl="1" algn="l">
              <a:lnSpc>
                <a:spcPct val="106000"/>
              </a:lnSpc>
              <a:spcAft>
                <a:spcPts val="200"/>
              </a:spcAft>
            </a:pPr>
            <a:r>
              <a:rPr sz="1150" b="0" i="0">
                <a:solidFill>
                  <a:srgbClr val="C9A94A"/>
                </a:solidFill>
                <a:latin typeface="Segoe UI"/>
              </a:rPr>
              <a:t>– </a:t>
            </a:r>
            <a:r>
              <a:rPr sz="1150" b="0" i="0">
                <a:solidFill>
                  <a:srgbClr val="433E39"/>
                </a:solidFill>
                <a:latin typeface="Segoe UI"/>
              </a:rPr>
              <a:t>Hora hasta (opcional)</a:t>
            </a:r>
          </a:p>
          <a:p>
            <a:pPr lvl="1" algn="l">
              <a:lnSpc>
                <a:spcPct val="106000"/>
              </a:lnSpc>
              <a:spcAft>
                <a:spcPts val="200"/>
              </a:spcAft>
            </a:pPr>
            <a:r>
              <a:rPr sz="1150" b="0" i="0">
                <a:solidFill>
                  <a:srgbClr val="C9A94A"/>
                </a:solidFill>
                <a:latin typeface="Segoe UI"/>
              </a:rPr>
              <a:t>– </a:t>
            </a:r>
            <a:r>
              <a:rPr sz="1150" b="0" i="0">
                <a:solidFill>
                  <a:srgbClr val="433E39"/>
                </a:solidFill>
                <a:latin typeface="Segoe UI"/>
              </a:rPr>
              <a:t>Estado de la celebración</a:t>
            </a:r>
          </a:p>
          <a:p>
            <a:pPr lvl="1" algn="l">
              <a:lnSpc>
                <a:spcPct val="106000"/>
              </a:lnSpc>
              <a:spcAft>
                <a:spcPts val="200"/>
              </a:spcAft>
            </a:pPr>
            <a:r>
              <a:rPr sz="1150" b="0" i="0">
                <a:solidFill>
                  <a:srgbClr val="C9A94A"/>
                </a:solidFill>
                <a:latin typeface="Segoe UI"/>
              </a:rPr>
              <a:t>– </a:t>
            </a:r>
            <a:r>
              <a:rPr sz="1150" b="0" i="0">
                <a:solidFill>
                  <a:srgbClr val="433E39"/>
                </a:solidFill>
                <a:latin typeface="Segoe UI"/>
              </a:rPr>
              <a:t>Lugar (obligatorio)</a:t>
            </a:r>
          </a:p>
          <a:p>
            <a:pPr lvl="1" algn="l">
              <a:lnSpc>
                <a:spcPct val="106000"/>
              </a:lnSpc>
              <a:spcAft>
                <a:spcPts val="200"/>
              </a:spcAft>
            </a:pPr>
            <a:r>
              <a:rPr sz="1150" b="0" i="0">
                <a:solidFill>
                  <a:srgbClr val="C9A94A"/>
                </a:solidFill>
                <a:latin typeface="Segoe UI"/>
              </a:rPr>
              <a:t>– </a:t>
            </a:r>
            <a:r>
              <a:rPr sz="1150" b="0" i="0">
                <a:solidFill>
                  <a:srgbClr val="433E39"/>
                </a:solidFill>
                <a:latin typeface="Segoe UI"/>
              </a:rPr>
              <a:t>Observaciones (opcional)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50" b="0" i="0">
                <a:solidFill>
                  <a:srgbClr val="C9A94A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433E39"/>
                </a:solidFill>
                <a:latin typeface="Segoe UI"/>
              </a:rPr>
              <a:t>Los campos obligatorios se señalan con asterisco (*).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50" b="0" i="0">
                <a:solidFill>
                  <a:srgbClr val="C9A94A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433E39"/>
                </a:solidFill>
                <a:latin typeface="Segoe UI"/>
              </a:rPr>
              <a:t>Acciones: Guardar, Guardar y nuevo, Cancelar.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37176" y="1412646"/>
            <a:ext cx="6839712" cy="4745939"/>
          </a:xfrm>
          <a:prstGeom prst="rect">
            <a:avLst/>
          </a:prstGeom>
          <a:solidFill>
            <a:srgbClr val="FFFFFF"/>
          </a:solidFill>
          <a:ln w="12700">
            <a:solidFill>
              <a:srgbClr val="C3B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02_nueva_celebr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467510"/>
            <a:ext cx="6729984" cy="46362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5C0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6576"/>
            <a:ext cx="8131759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Gestión de celebrantes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98687" y="36576"/>
            <a:ext cx="292608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 i="0">
                <a:solidFill>
                  <a:srgbClr val="F6ECCF"/>
                </a:solidFill>
                <a:latin typeface="Segoe UI"/>
              </a:rPr>
              <a:t>MÓDULO CELEBRACIONES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1"/>
          </a:xfrm>
          <a:prstGeom prst="rect">
            <a:avLst/>
          </a:prstGeom>
          <a:solidFill>
            <a:srgbClr val="F1E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18288"/>
          </a:xfrm>
          <a:prstGeom prst="rect">
            <a:avLst/>
          </a:prstGeom>
          <a:solidFill>
            <a:srgbClr val="C3B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9686239" cy="3474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i="0">
                <a:solidFill>
                  <a:srgbClr val="6F6A64"/>
                </a:solidFill>
                <a:latin typeface="Segoe UI"/>
              </a:rPr>
              <a:t>Módulo Celebraciones · Sistema Integral de Gestión Sacramental y Pastoral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53167" y="6510528"/>
            <a:ext cx="1371600" cy="3474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 i="0">
                <a:solidFill>
                  <a:srgbClr val="7D1A30"/>
                </a:solidFill>
                <a:latin typeface="Segoe UI"/>
              </a:rPr>
              <a:t>05 / 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115568"/>
            <a:ext cx="1105783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433E39"/>
                </a:solidFill>
                <a:latin typeface="Segoe UI"/>
              </a:rPr>
              <a:t>Desde la sección Celebrantes se busca y selecciona a la persona que oficiará la celebración. Se puede registrar uno o varios celebrantes e identificar al principal.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" y="2257282"/>
            <a:ext cx="5410047" cy="3422427"/>
          </a:xfrm>
          <a:prstGeom prst="rect">
            <a:avLst/>
          </a:prstGeom>
          <a:solidFill>
            <a:srgbClr val="FFFFFF"/>
          </a:solidFill>
          <a:ln w="12700">
            <a:solidFill>
              <a:srgbClr val="C3B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03_seleccionar_celebra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12146"/>
            <a:ext cx="5300319" cy="331269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269583" y="2069562"/>
            <a:ext cx="5410047" cy="3797867"/>
          </a:xfrm>
          <a:prstGeom prst="rect">
            <a:avLst/>
          </a:prstGeom>
          <a:solidFill>
            <a:srgbClr val="FFFFFF"/>
          </a:solidFill>
          <a:ln w="12700">
            <a:solidFill>
              <a:srgbClr val="C3B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04_celebrante_agreg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447" y="2124426"/>
            <a:ext cx="5300319" cy="368813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66928" y="5998464"/>
            <a:ext cx="530031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5C061B"/>
                </a:solidFill>
                <a:latin typeface="Segoe UI"/>
              </a:rPr>
              <a:t>Seleccionar celebrante</a:t>
            </a:r>
          </a:p>
          <a:p>
            <a:pPr algn="ctr"/>
            <a:r>
              <a:rPr sz="1050" b="0" i="0">
                <a:solidFill>
                  <a:srgbClr val="433E39"/>
                </a:solidFill>
                <a:latin typeface="Segoe UI"/>
              </a:rPr>
              <a:t>Buscador · Nombre · Tipo/rol · selector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5998464"/>
            <a:ext cx="530031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5C061B"/>
                </a:solidFill>
                <a:latin typeface="Segoe UI"/>
              </a:rPr>
              <a:t>Celebrante agregado</a:t>
            </a:r>
          </a:p>
          <a:p>
            <a:pPr algn="ctr"/>
            <a:r>
              <a:rPr sz="1050" b="0" i="0">
                <a:solidFill>
                  <a:srgbClr val="433E39"/>
                </a:solidFill>
                <a:latin typeface="Segoe UI"/>
              </a:rPr>
              <a:t>Principal (estrella) · Tipo/rol · acción Quitar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5C0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6576"/>
            <a:ext cx="8131759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Gestión de intenciones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98687" y="36576"/>
            <a:ext cx="292608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 i="0">
                <a:solidFill>
                  <a:srgbClr val="F6ECCF"/>
                </a:solidFill>
                <a:latin typeface="Segoe UI"/>
              </a:rPr>
              <a:t>MÓDULO CELEBRACIONES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1"/>
          </a:xfrm>
          <a:prstGeom prst="rect">
            <a:avLst/>
          </a:prstGeom>
          <a:solidFill>
            <a:srgbClr val="F1E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18288"/>
          </a:xfrm>
          <a:prstGeom prst="rect">
            <a:avLst/>
          </a:prstGeom>
          <a:solidFill>
            <a:srgbClr val="C3B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9686239" cy="3474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i="0">
                <a:solidFill>
                  <a:srgbClr val="6F6A64"/>
                </a:solidFill>
                <a:latin typeface="Segoe UI"/>
              </a:rPr>
              <a:t>Módulo Celebraciones · Sistema Integral de Gestión Sacramental y Pastoral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53167" y="6510528"/>
            <a:ext cx="1371600" cy="3474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 i="0">
                <a:solidFill>
                  <a:srgbClr val="7D1A30"/>
                </a:solidFill>
                <a:latin typeface="Segoe UI"/>
              </a:rPr>
              <a:t>06 / 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115568"/>
            <a:ext cx="11057839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50" i="0" dirty="0">
                <a:latin typeface="+mj-lt"/>
              </a:rPr>
              <a:t>En la </a:t>
            </a:r>
            <a:r>
              <a:rPr sz="1350" i="0" dirty="0" err="1">
                <a:latin typeface="+mj-lt"/>
              </a:rPr>
              <a:t>sección</a:t>
            </a:r>
            <a:r>
              <a:rPr sz="1350" i="0" dirty="0">
                <a:latin typeface="+mj-lt"/>
              </a:rPr>
              <a:t> </a:t>
            </a:r>
            <a:r>
              <a:rPr sz="1350" i="0" dirty="0" err="1">
                <a:latin typeface="+mj-lt"/>
              </a:rPr>
              <a:t>Intenciones</a:t>
            </a:r>
            <a:r>
              <a:rPr sz="1350" i="0" dirty="0">
                <a:latin typeface="+mj-lt"/>
              </a:rPr>
              <a:t> se </a:t>
            </a:r>
            <a:r>
              <a:rPr sz="1350" i="0" dirty="0" err="1">
                <a:latin typeface="+mj-lt"/>
              </a:rPr>
              <a:t>registran</a:t>
            </a:r>
            <a:r>
              <a:rPr sz="1350" i="0" dirty="0">
                <a:latin typeface="+mj-lt"/>
              </a:rPr>
              <a:t> las </a:t>
            </a:r>
            <a:r>
              <a:rPr sz="1350" i="0" dirty="0" err="1">
                <a:latin typeface="+mj-lt"/>
              </a:rPr>
              <a:t>intenciones</a:t>
            </a:r>
            <a:r>
              <a:rPr sz="1350" i="0" dirty="0">
                <a:latin typeface="+mj-lt"/>
              </a:rPr>
              <a:t> </a:t>
            </a:r>
            <a:r>
              <a:rPr sz="1350" i="0" dirty="0" err="1">
                <a:latin typeface="+mj-lt"/>
              </a:rPr>
              <a:t>solicitadas</a:t>
            </a:r>
            <a:r>
              <a:rPr sz="1350" i="0" dirty="0">
                <a:latin typeface="+mj-lt"/>
              </a:rPr>
              <a:t> para la </a:t>
            </a:r>
            <a:r>
              <a:rPr sz="1350" i="0" dirty="0" err="1">
                <a:latin typeface="+mj-lt"/>
              </a:rPr>
              <a:t>celebración</a:t>
            </a:r>
            <a:r>
              <a:rPr sz="1350" i="0" dirty="0">
                <a:latin typeface="+mj-lt"/>
              </a:rPr>
              <a:t>. </a:t>
            </a:r>
            <a:r>
              <a:rPr lang="es-GT" sz="1400" dirty="0">
                <a:latin typeface="+mj-lt"/>
              </a:rPr>
              <a:t>Una celebración puede contener una o varias intenciones, de acuerdo con las solicitudes registradas.”</a:t>
            </a:r>
            <a:endParaRPr sz="1350" i="0" dirty="0">
              <a:latin typeface="+mj-lt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12064" y="2257282"/>
            <a:ext cx="5410047" cy="3422427"/>
          </a:xfrm>
          <a:prstGeom prst="rect">
            <a:avLst/>
          </a:prstGeom>
          <a:solidFill>
            <a:srgbClr val="FFFFFF"/>
          </a:solidFill>
          <a:ln w="12700">
            <a:solidFill>
              <a:srgbClr val="C3B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05_agregar_inten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12146"/>
            <a:ext cx="5300319" cy="331269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269583" y="2029073"/>
            <a:ext cx="5410047" cy="3878844"/>
          </a:xfrm>
          <a:prstGeom prst="rect">
            <a:avLst/>
          </a:prstGeom>
          <a:solidFill>
            <a:srgbClr val="FFFFFF"/>
          </a:solidFill>
          <a:ln w="12700">
            <a:solidFill>
              <a:srgbClr val="C3B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06_intencion_agrega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447" y="2083937"/>
            <a:ext cx="5300319" cy="37691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66928" y="5998464"/>
            <a:ext cx="530031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5C061B"/>
                </a:solidFill>
                <a:latin typeface="Segoe UI"/>
              </a:rPr>
              <a:t>Agregar intención</a:t>
            </a:r>
          </a:p>
          <a:p>
            <a:pPr algn="ctr"/>
            <a:r>
              <a:rPr sz="1050" b="0" i="0">
                <a:solidFill>
                  <a:srgbClr val="433E39"/>
                </a:solidFill>
                <a:latin typeface="Segoe UI"/>
              </a:rPr>
              <a:t>Tipo · Descripción · Solicitante · Observaciones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5998464"/>
            <a:ext cx="530031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5C061B"/>
                </a:solidFill>
                <a:latin typeface="Segoe UI"/>
              </a:rPr>
              <a:t>Intención agregada</a:t>
            </a:r>
          </a:p>
          <a:p>
            <a:pPr algn="ctr"/>
            <a:r>
              <a:rPr sz="1050" b="0" i="0">
                <a:solidFill>
                  <a:srgbClr val="433E39"/>
                </a:solidFill>
                <a:latin typeface="Segoe UI"/>
              </a:rPr>
              <a:t>Tipo · Descripción · Solicitante · acción Quitar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5C0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6576"/>
            <a:ext cx="8131759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Detalle de celebración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98687" y="36576"/>
            <a:ext cx="292608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 i="0">
                <a:solidFill>
                  <a:srgbClr val="F6ECCF"/>
                </a:solidFill>
                <a:latin typeface="Segoe UI"/>
              </a:rPr>
              <a:t>MÓDULO CELEBRACIONES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1"/>
          </a:xfrm>
          <a:prstGeom prst="rect">
            <a:avLst/>
          </a:prstGeom>
          <a:solidFill>
            <a:srgbClr val="F1E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18288"/>
          </a:xfrm>
          <a:prstGeom prst="rect">
            <a:avLst/>
          </a:prstGeom>
          <a:solidFill>
            <a:srgbClr val="C3B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9686239" cy="3474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i="0">
                <a:solidFill>
                  <a:srgbClr val="6F6A64"/>
                </a:solidFill>
                <a:latin typeface="Segoe UI"/>
              </a:rPr>
              <a:t>Módulo Celebraciones · Sistema Integral de Gestión Sacramental y Pastoral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53167" y="6510528"/>
            <a:ext cx="1371600" cy="3474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 i="0">
                <a:solidFill>
                  <a:srgbClr val="7D1A30"/>
                </a:solidFill>
                <a:latin typeface="Segoe UI"/>
              </a:rPr>
              <a:t>07 / 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161288"/>
            <a:ext cx="3931920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50" b="0" i="0">
                <a:solidFill>
                  <a:srgbClr val="C9A94A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433E39"/>
                </a:solidFill>
                <a:latin typeface="Segoe UI"/>
              </a:rPr>
              <a:t>Vista de solo lectura con toda la información de la celebración.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50" b="0" i="0">
                <a:solidFill>
                  <a:srgbClr val="C9A94A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433E39"/>
                </a:solidFill>
                <a:latin typeface="Segoe UI"/>
              </a:rPr>
              <a:t>Información general: tipo, estado, fecha, horario y lugar.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50" b="0" i="0">
                <a:solidFill>
                  <a:srgbClr val="C9A94A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433E39"/>
                </a:solidFill>
                <a:latin typeface="Segoe UI"/>
              </a:rPr>
              <a:t>Observaciones registradas.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50" b="0" i="0">
                <a:solidFill>
                  <a:srgbClr val="C9A94A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433E39"/>
                </a:solidFill>
                <a:latin typeface="Segoe UI"/>
              </a:rPr>
              <a:t>Sacramentos asociados, cuando existen.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50" b="0" i="0">
                <a:solidFill>
                  <a:srgbClr val="C9A94A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433E39"/>
                </a:solidFill>
                <a:latin typeface="Segoe UI"/>
              </a:rPr>
              <a:t>Listado de celebrantes con su función (principal o concelebrante).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50" b="0" i="0">
                <a:solidFill>
                  <a:srgbClr val="C9A94A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433E39"/>
                </a:solidFill>
                <a:latin typeface="Segoe UI"/>
              </a:rPr>
              <a:t>Listado de intenciones con tipo, descripción y solicitante.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50" b="0" i="0">
                <a:solidFill>
                  <a:srgbClr val="C9A94A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433E39"/>
                </a:solidFill>
                <a:latin typeface="Segoe UI"/>
              </a:rPr>
              <a:t>Acciones: Volver, Imprimir, Eliminar y Editar.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00016" y="1584769"/>
            <a:ext cx="6976872" cy="4401693"/>
          </a:xfrm>
          <a:prstGeom prst="rect">
            <a:avLst/>
          </a:prstGeom>
          <a:solidFill>
            <a:srgbClr val="FFFFFF"/>
          </a:solidFill>
          <a:ln w="12700">
            <a:solidFill>
              <a:srgbClr val="C3B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07_detalle_celebr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39633"/>
            <a:ext cx="6867144" cy="42919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5C0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6576"/>
            <a:ext cx="8131759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Edición de celebración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98687" y="36576"/>
            <a:ext cx="292608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 i="0">
                <a:solidFill>
                  <a:srgbClr val="F6ECCF"/>
                </a:solidFill>
                <a:latin typeface="Segoe UI"/>
              </a:rPr>
              <a:t>MÓDULO CELEBRACIONES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1"/>
          </a:xfrm>
          <a:prstGeom prst="rect">
            <a:avLst/>
          </a:prstGeom>
          <a:solidFill>
            <a:srgbClr val="F1E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18288"/>
          </a:xfrm>
          <a:prstGeom prst="rect">
            <a:avLst/>
          </a:prstGeom>
          <a:solidFill>
            <a:srgbClr val="C3B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9686239" cy="3474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i="0">
                <a:solidFill>
                  <a:srgbClr val="6F6A64"/>
                </a:solidFill>
                <a:latin typeface="Segoe UI"/>
              </a:rPr>
              <a:t>Módulo Celebraciones · Sistema Integral de Gestión Sacramental y Pastoral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53167" y="6510528"/>
            <a:ext cx="1371600" cy="3474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 i="0">
                <a:solidFill>
                  <a:srgbClr val="7D1A30"/>
                </a:solidFill>
                <a:latin typeface="Segoe UI"/>
              </a:rPr>
              <a:t>08 / 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161288"/>
            <a:ext cx="4160520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250" b="0" i="0">
                <a:solidFill>
                  <a:srgbClr val="C9A94A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433E39"/>
                </a:solidFill>
                <a:latin typeface="Segoe UI"/>
              </a:rPr>
              <a:t>Mismo formulario que Nueva celebración, con los datos existentes ya cargados.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250" b="0" i="0">
                <a:solidFill>
                  <a:srgbClr val="C9A94A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433E39"/>
                </a:solidFill>
                <a:latin typeface="Segoe UI"/>
              </a:rPr>
              <a:t>Permite modificar los datos generales de la celebración.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250" b="0" i="0">
                <a:solidFill>
                  <a:srgbClr val="C9A94A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433E39"/>
                </a:solidFill>
                <a:latin typeface="Segoe UI"/>
              </a:rPr>
              <a:t>Gestión de celebrantes: agregar, quitar y cambiar el principal.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250" b="0" i="0">
                <a:solidFill>
                  <a:srgbClr val="C9A94A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433E39"/>
                </a:solidFill>
                <a:latin typeface="Segoe UI"/>
              </a:rPr>
              <a:t>Gestión de intenciones: agregar y quitar.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250" b="0" i="0">
                <a:solidFill>
                  <a:srgbClr val="C9A94A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433E39"/>
                </a:solidFill>
                <a:latin typeface="Segoe UI"/>
              </a:rPr>
              <a:t>Indicador de cambios sin guardar.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250" b="0" i="0">
                <a:solidFill>
                  <a:srgbClr val="C9A94A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433E39"/>
                </a:solidFill>
                <a:latin typeface="Segoe UI"/>
              </a:rPr>
              <a:t>Acciones: Cancelar y Guardar cambios.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37176" y="1288795"/>
            <a:ext cx="6839712" cy="4993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3B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08_editar_celebr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43660"/>
            <a:ext cx="6729984" cy="48839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5C0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6576"/>
            <a:ext cx="8131759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Calendario de celebraciones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98687" y="36576"/>
            <a:ext cx="292608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 i="0">
                <a:solidFill>
                  <a:srgbClr val="F6ECCF"/>
                </a:solidFill>
                <a:latin typeface="Segoe UI"/>
              </a:rPr>
              <a:t>MÓDULO CELEBRACIONES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1"/>
          </a:xfrm>
          <a:prstGeom prst="rect">
            <a:avLst/>
          </a:prstGeom>
          <a:solidFill>
            <a:srgbClr val="F1E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18288"/>
          </a:xfrm>
          <a:prstGeom prst="rect">
            <a:avLst/>
          </a:prstGeom>
          <a:solidFill>
            <a:srgbClr val="C3B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9686239" cy="3474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i="0">
                <a:solidFill>
                  <a:srgbClr val="6F6A64"/>
                </a:solidFill>
                <a:latin typeface="Segoe UI"/>
              </a:rPr>
              <a:t>Módulo Celebraciones · Sistema Integral de Gestión Sacramental y Pastoral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53167" y="6510528"/>
            <a:ext cx="1371600" cy="3474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 i="0">
                <a:solidFill>
                  <a:srgbClr val="7D1A30"/>
                </a:solidFill>
                <a:latin typeface="Segoe UI"/>
              </a:rPr>
              <a:t>09 / 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161288"/>
            <a:ext cx="379476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250" b="0" i="0">
                <a:solidFill>
                  <a:srgbClr val="C9A94A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433E39"/>
                </a:solidFill>
                <a:latin typeface="Segoe UI"/>
              </a:rPr>
              <a:t>Consulta visual de la programación parroquial.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250" b="0" i="0">
                <a:solidFill>
                  <a:srgbClr val="C9A94A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433E39"/>
                </a:solidFill>
                <a:latin typeface="Segoe UI"/>
              </a:rPr>
              <a:t>Cada celebración aparece con su hora y tipo.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250" b="0" i="0">
                <a:solidFill>
                  <a:srgbClr val="C9A94A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433E39"/>
                </a:solidFill>
                <a:latin typeface="Segoe UI"/>
              </a:rPr>
              <a:t>Al hacer clic sobre una celebración se abre su detalle.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250" b="0" i="0">
                <a:solidFill>
                  <a:srgbClr val="C9A94A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433E39"/>
                </a:solidFill>
                <a:latin typeface="Segoe UI"/>
              </a:rPr>
              <a:t>Vistas disponibles: Día, Laboral, Semana y Mes.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250" b="0" i="0">
                <a:solidFill>
                  <a:srgbClr val="C9A94A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433E39"/>
                </a:solidFill>
                <a:latin typeface="Segoe UI"/>
              </a:rPr>
              <a:t>Navegación: Anterior, Siguiente y Hoy.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250" b="0" i="0">
                <a:solidFill>
                  <a:srgbClr val="C9A94A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433E39"/>
                </a:solidFill>
                <a:latin typeface="Segoe UI"/>
              </a:rPr>
              <a:t>El día actual y las celebraciones canceladas se distinguen visualmente.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62856" y="1529746"/>
            <a:ext cx="7114032" cy="4511738"/>
          </a:xfrm>
          <a:prstGeom prst="rect">
            <a:avLst/>
          </a:prstGeom>
          <a:solidFill>
            <a:srgbClr val="FFFFFF"/>
          </a:solidFill>
          <a:ln w="12700">
            <a:solidFill>
              <a:srgbClr val="C3B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09_calendario_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584610"/>
            <a:ext cx="7004304" cy="44020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5C0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6576"/>
            <a:ext cx="8131759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Vistas del calendario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98687" y="36576"/>
            <a:ext cx="292608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 i="0">
                <a:solidFill>
                  <a:srgbClr val="F6ECCF"/>
                </a:solidFill>
                <a:latin typeface="Segoe UI"/>
              </a:rPr>
              <a:t>MÓDULO CELEBRACIONES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1"/>
          </a:xfrm>
          <a:prstGeom prst="rect">
            <a:avLst/>
          </a:prstGeom>
          <a:solidFill>
            <a:srgbClr val="F1E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18288"/>
          </a:xfrm>
          <a:prstGeom prst="rect">
            <a:avLst/>
          </a:prstGeom>
          <a:solidFill>
            <a:srgbClr val="C3B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9686239" cy="3474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i="0">
                <a:solidFill>
                  <a:srgbClr val="6F6A64"/>
                </a:solidFill>
                <a:latin typeface="Segoe UI"/>
              </a:rPr>
              <a:t>Módulo Celebraciones · Sistema Integral de Gestión Sacramental y Pastoral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53167" y="6510528"/>
            <a:ext cx="1371600" cy="3474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 i="0">
                <a:solidFill>
                  <a:srgbClr val="7D1A30"/>
                </a:solidFill>
                <a:latin typeface="Segoe UI"/>
              </a:rPr>
              <a:t>10 / 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115568"/>
            <a:ext cx="1105783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433E39"/>
                </a:solidFill>
                <a:latin typeface="Segoe UI"/>
              </a:rPr>
              <a:t>El calendario ofrece cuatro escalas de consulta. La vista Mes se muestra en la diapositiva anterior; a continuación se comparan las vistas Semana, Día y Laboral.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" y="2642616"/>
            <a:ext cx="3588410" cy="2283904"/>
          </a:xfrm>
          <a:prstGeom prst="rect">
            <a:avLst/>
          </a:prstGeom>
          <a:solidFill>
            <a:srgbClr val="FFFFFF"/>
          </a:solidFill>
          <a:ln w="12700">
            <a:solidFill>
              <a:srgbClr val="C3B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10_calendario_sema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697480"/>
            <a:ext cx="3478682" cy="21741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5017960"/>
            <a:ext cx="347868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5C061B"/>
                </a:solidFill>
                <a:latin typeface="Segoe UI"/>
              </a:rPr>
              <a:t>SEMANA</a:t>
            </a:r>
          </a:p>
          <a:p>
            <a:pPr algn="ctr"/>
            <a:r>
              <a:rPr sz="1050" b="0" i="0">
                <a:solidFill>
                  <a:srgbClr val="433E39"/>
                </a:solidFill>
                <a:latin typeface="Segoe UI"/>
              </a:rPr>
              <a:t>Visualización de la programación semanal.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01642" y="2642616"/>
            <a:ext cx="3588410" cy="2283904"/>
          </a:xfrm>
          <a:prstGeom prst="rect">
            <a:avLst/>
          </a:prstGeom>
          <a:solidFill>
            <a:srgbClr val="FFFFFF"/>
          </a:solidFill>
          <a:ln w="12700">
            <a:solidFill>
              <a:srgbClr val="C3B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11_calendario_d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6506" y="2697480"/>
            <a:ext cx="3478682" cy="217417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356506" y="5017960"/>
            <a:ext cx="347868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5C061B"/>
                </a:solidFill>
                <a:latin typeface="Segoe UI"/>
              </a:rPr>
              <a:t>DÍA</a:t>
            </a:r>
          </a:p>
          <a:p>
            <a:pPr algn="ctr"/>
            <a:r>
              <a:rPr sz="1050" b="0" i="0">
                <a:solidFill>
                  <a:srgbClr val="433E39"/>
                </a:solidFill>
                <a:latin typeface="Segoe UI"/>
              </a:rPr>
              <a:t>Programación detallada de una fecha.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1220" y="2642616"/>
            <a:ext cx="3588410" cy="2283904"/>
          </a:xfrm>
          <a:prstGeom prst="rect">
            <a:avLst/>
          </a:prstGeom>
          <a:solidFill>
            <a:srgbClr val="FFFFFF"/>
          </a:solidFill>
          <a:ln w="12700">
            <a:solidFill>
              <a:srgbClr val="C3B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12_calendario_labor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6084" y="2697480"/>
            <a:ext cx="3478682" cy="217417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146084" y="5017960"/>
            <a:ext cx="347868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5C061B"/>
                </a:solidFill>
                <a:latin typeface="Segoe UI"/>
              </a:rPr>
              <a:t>LABORAL</a:t>
            </a:r>
          </a:p>
          <a:p>
            <a:pPr algn="ctr"/>
            <a:r>
              <a:rPr sz="1050" b="0" i="0">
                <a:solidFill>
                  <a:srgbClr val="433E39"/>
                </a:solidFill>
                <a:latin typeface="Segoe UI"/>
              </a:rPr>
              <a:t>Programación de los días laborables (lunes a viernes).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5C0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6576"/>
            <a:ext cx="8131759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Estados de las celebraciones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98687" y="36576"/>
            <a:ext cx="292608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 i="0">
                <a:solidFill>
                  <a:srgbClr val="F6ECCF"/>
                </a:solidFill>
                <a:latin typeface="Segoe UI"/>
              </a:rPr>
              <a:t>MÓDULO CELEBRACIONES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1"/>
          </a:xfrm>
          <a:prstGeom prst="rect">
            <a:avLst/>
          </a:prstGeom>
          <a:solidFill>
            <a:srgbClr val="F1E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18288"/>
          </a:xfrm>
          <a:prstGeom prst="rect">
            <a:avLst/>
          </a:prstGeom>
          <a:solidFill>
            <a:srgbClr val="C3B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9686239" cy="3474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i="0">
                <a:solidFill>
                  <a:srgbClr val="6F6A64"/>
                </a:solidFill>
                <a:latin typeface="Segoe UI"/>
              </a:rPr>
              <a:t>Módulo Celebraciones · Sistema Integral de Gestión Sacramental y Pastoral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53167" y="6510528"/>
            <a:ext cx="1371600" cy="3474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 i="0">
                <a:solidFill>
                  <a:srgbClr val="7D1A30"/>
                </a:solidFill>
                <a:latin typeface="Segoe UI"/>
              </a:rPr>
              <a:t>11 / 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115568"/>
            <a:ext cx="3931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433E39"/>
                </a:solidFill>
                <a:latin typeface="Segoe UI"/>
              </a:rPr>
              <a:t>El estado indica la situación actual de cada celebración dentro de la programación parroquial.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50008"/>
            <a:ext cx="146304" cy="603504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" y="2322576"/>
            <a:ext cx="3566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1F5F8B"/>
                </a:solidFill>
                <a:latin typeface="Segoe UI"/>
              </a:rPr>
              <a:t>Programada</a:t>
            </a:r>
          </a:p>
          <a:p>
            <a:pPr algn="l"/>
            <a:r>
              <a:rPr sz="1050" b="0" i="0">
                <a:solidFill>
                  <a:srgbClr val="433E39"/>
                </a:solidFill>
                <a:latin typeface="Segoe UI"/>
              </a:rPr>
              <a:t>Registrada, aún sin confirmar.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136392"/>
            <a:ext cx="146304" cy="603504"/>
          </a:xfrm>
          <a:prstGeom prst="rect">
            <a:avLst/>
          </a:prstGeom>
          <a:solidFill>
            <a:srgbClr val="2F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6" y="3108960"/>
            <a:ext cx="3566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2F6B3A"/>
                </a:solidFill>
                <a:latin typeface="Segoe UI"/>
              </a:rPr>
              <a:t>Confirmada</a:t>
            </a:r>
          </a:p>
          <a:p>
            <a:pPr algn="l"/>
            <a:r>
              <a:rPr sz="1050" b="0" i="0">
                <a:solidFill>
                  <a:srgbClr val="433E39"/>
                </a:solidFill>
                <a:latin typeface="Segoe UI"/>
              </a:rPr>
              <a:t>Verificada y lista para realizarse.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922776"/>
            <a:ext cx="146304" cy="603504"/>
          </a:xfrm>
          <a:prstGeom prst="rect">
            <a:avLst/>
          </a:prstGeom>
          <a:solidFill>
            <a:srgbClr val="6F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9536" y="3895344"/>
            <a:ext cx="3566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6F6A64"/>
                </a:solidFill>
                <a:latin typeface="Segoe UI"/>
              </a:rPr>
              <a:t>Realizada</a:t>
            </a:r>
          </a:p>
          <a:p>
            <a:pPr algn="l"/>
            <a:r>
              <a:rPr sz="1050" b="0" i="0">
                <a:solidFill>
                  <a:srgbClr val="433E39"/>
                </a:solidFill>
                <a:latin typeface="Segoe UI"/>
              </a:rPr>
              <a:t>Ya se llevó a cabo.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709160"/>
            <a:ext cx="146304" cy="603504"/>
          </a:xfrm>
          <a:prstGeom prst="rect">
            <a:avLst/>
          </a:prstGeom>
          <a:solidFill>
            <a:srgbClr val="9E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9536" y="4681728"/>
            <a:ext cx="3566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9E222B"/>
                </a:solidFill>
                <a:latin typeface="Segoe UI"/>
              </a:rPr>
              <a:t>Cancelada</a:t>
            </a:r>
          </a:p>
          <a:p>
            <a:pPr algn="l"/>
            <a:r>
              <a:rPr sz="1050" b="0" i="0">
                <a:solidFill>
                  <a:srgbClr val="433E39"/>
                </a:solidFill>
                <a:latin typeface="Segoe UI"/>
              </a:rPr>
              <a:t>No se realizará; se muestra tachada.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08576" y="1556194"/>
            <a:ext cx="7068312" cy="4458843"/>
          </a:xfrm>
          <a:prstGeom prst="rect">
            <a:avLst/>
          </a:prstGeom>
          <a:solidFill>
            <a:srgbClr val="FFFFFF"/>
          </a:solidFill>
          <a:ln w="12700">
            <a:solidFill>
              <a:srgbClr val="C3B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13_estado_cancela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611058"/>
            <a:ext cx="6958584" cy="43491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5C0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6576"/>
            <a:ext cx="8131759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Confirmaciones y seguridad de operaciones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98687" y="36576"/>
            <a:ext cx="292608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 i="0">
                <a:solidFill>
                  <a:srgbClr val="F6ECCF"/>
                </a:solidFill>
                <a:latin typeface="Segoe UI"/>
              </a:rPr>
              <a:t>MÓDULO CELEBRACIONES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1"/>
          </a:xfrm>
          <a:prstGeom prst="rect">
            <a:avLst/>
          </a:prstGeom>
          <a:solidFill>
            <a:srgbClr val="F1E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18288"/>
          </a:xfrm>
          <a:prstGeom prst="rect">
            <a:avLst/>
          </a:prstGeom>
          <a:solidFill>
            <a:srgbClr val="C3B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9686239" cy="3474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i="0">
                <a:solidFill>
                  <a:srgbClr val="6F6A64"/>
                </a:solidFill>
                <a:latin typeface="Segoe UI"/>
              </a:rPr>
              <a:t>Módulo Celebraciones · Sistema Integral de Gestión Sacramental y Pastoral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53167" y="6510528"/>
            <a:ext cx="1371600" cy="3474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 i="0">
                <a:solidFill>
                  <a:srgbClr val="7D1A30"/>
                </a:solidFill>
                <a:latin typeface="Segoe UI"/>
              </a:rPr>
              <a:t>12 / 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161288"/>
            <a:ext cx="393192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250" b="0" i="0">
                <a:solidFill>
                  <a:srgbClr val="C9A94A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433E39"/>
                </a:solidFill>
                <a:latin typeface="Segoe UI"/>
              </a:rPr>
              <a:t>Las operaciones que eliminan información requieren una confirmación previa.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250" b="0" i="0">
                <a:solidFill>
                  <a:srgbClr val="C9A94A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433E39"/>
                </a:solidFill>
                <a:latin typeface="Segoe UI"/>
              </a:rPr>
              <a:t>Antes de eliminar se muestra un resumen de la celebración afectada.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250" b="0" i="0">
                <a:solidFill>
                  <a:srgbClr val="C9A94A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433E39"/>
                </a:solidFill>
                <a:latin typeface="Segoe UI"/>
              </a:rPr>
              <a:t>El botón Eliminar recibe un tratamiento visual de acción peligrosa.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250" b="0" i="0">
                <a:solidFill>
                  <a:srgbClr val="C9A94A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433E39"/>
                </a:solidFill>
                <a:latin typeface="Segoe UI"/>
              </a:rPr>
              <a:t>La acción puede cancelarse sin efectos sobre los datos.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250" b="0" i="0">
                <a:solidFill>
                  <a:srgbClr val="C9A94A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433E39"/>
                </a:solidFill>
                <a:latin typeface="Segoe UI"/>
              </a:rPr>
              <a:t>Objetivo: reducir eliminaciones accidentales.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00016" y="1584769"/>
            <a:ext cx="6976872" cy="4401693"/>
          </a:xfrm>
          <a:prstGeom prst="rect">
            <a:avLst/>
          </a:prstGeom>
          <a:solidFill>
            <a:srgbClr val="FFFFFF"/>
          </a:solidFill>
          <a:ln w="12700">
            <a:solidFill>
              <a:srgbClr val="C3B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14_confirmacion_elimin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39633"/>
            <a:ext cx="6867144" cy="42919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5C0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6576"/>
            <a:ext cx="8131759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Validaciones del formulario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98687" y="36576"/>
            <a:ext cx="292608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 i="0">
                <a:solidFill>
                  <a:srgbClr val="F6ECCF"/>
                </a:solidFill>
                <a:latin typeface="Segoe UI"/>
              </a:rPr>
              <a:t>MÓDULO CELEBRACIONES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1"/>
          </a:xfrm>
          <a:prstGeom prst="rect">
            <a:avLst/>
          </a:prstGeom>
          <a:solidFill>
            <a:srgbClr val="F1E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18288"/>
          </a:xfrm>
          <a:prstGeom prst="rect">
            <a:avLst/>
          </a:prstGeom>
          <a:solidFill>
            <a:srgbClr val="C3B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9686239" cy="3474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i="0">
                <a:solidFill>
                  <a:srgbClr val="6F6A64"/>
                </a:solidFill>
                <a:latin typeface="Segoe UI"/>
              </a:rPr>
              <a:t>Módulo Celebraciones · Sistema Integral de Gestión Sacramental y Pastoral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53167" y="6510528"/>
            <a:ext cx="1371600" cy="3474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 i="0">
                <a:solidFill>
                  <a:srgbClr val="7D1A30"/>
                </a:solidFill>
                <a:latin typeface="Segoe UI"/>
              </a:rPr>
              <a:t>13 / 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161288"/>
            <a:ext cx="393192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250" b="0" i="0">
                <a:solidFill>
                  <a:srgbClr val="C9A94A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433E39"/>
                </a:solidFill>
                <a:latin typeface="Segoe UI"/>
              </a:rPr>
              <a:t>La validación se ejecuta al intentar guardar.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250" b="0" i="0">
                <a:solidFill>
                  <a:srgbClr val="C9A94A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433E39"/>
                </a:solidFill>
                <a:latin typeface="Segoe UI"/>
              </a:rPr>
              <a:t>Campos obligatorios: tipo de celebración, fecha, hora desde y lugar.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250" b="0" i="0">
                <a:solidFill>
                  <a:srgbClr val="C9A94A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433E39"/>
                </a:solidFill>
                <a:latin typeface="Segoe UI"/>
              </a:rPr>
              <a:t>La hora final debe ser posterior a la hora de inicio.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250" b="0" i="0">
                <a:solidFill>
                  <a:srgbClr val="C9A94A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433E39"/>
                </a:solidFill>
                <a:latin typeface="Segoe UI"/>
              </a:rPr>
              <a:t>Cada campo con error se resalta y muestra su mensaje.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250" b="0" i="0">
                <a:solidFill>
                  <a:srgbClr val="C9A94A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433E39"/>
                </a:solidFill>
                <a:latin typeface="Segoe UI"/>
              </a:rPr>
              <a:t>Se muestra una notificación general: «Revise el formulario».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250" b="0" i="0">
                <a:solidFill>
                  <a:srgbClr val="C9A94A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433E39"/>
                </a:solidFill>
                <a:latin typeface="Segoe UI"/>
              </a:rPr>
              <a:t>No se guarda la celebración hasta corregir los errores.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08576" y="1556194"/>
            <a:ext cx="7068312" cy="4458843"/>
          </a:xfrm>
          <a:prstGeom prst="rect">
            <a:avLst/>
          </a:prstGeom>
          <a:solidFill>
            <a:srgbClr val="FFFFFF"/>
          </a:solidFill>
          <a:ln w="12700">
            <a:solidFill>
              <a:srgbClr val="C3B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15_validacion_formul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611058"/>
            <a:ext cx="6958584" cy="434911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5C0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6576"/>
            <a:ext cx="8131759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Retroalimentación del sistema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98687" y="36576"/>
            <a:ext cx="292608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 i="0">
                <a:solidFill>
                  <a:srgbClr val="F6ECCF"/>
                </a:solidFill>
                <a:latin typeface="Segoe UI"/>
              </a:rPr>
              <a:t>MÓDULO CELEBRACIONES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1"/>
          </a:xfrm>
          <a:prstGeom prst="rect">
            <a:avLst/>
          </a:prstGeom>
          <a:solidFill>
            <a:srgbClr val="F1E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18288"/>
          </a:xfrm>
          <a:prstGeom prst="rect">
            <a:avLst/>
          </a:prstGeom>
          <a:solidFill>
            <a:srgbClr val="C3B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9686239" cy="3474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i="0">
                <a:solidFill>
                  <a:srgbClr val="6F6A64"/>
                </a:solidFill>
                <a:latin typeface="Segoe UI"/>
              </a:rPr>
              <a:t>Módulo Celebraciones · Sistema Integral de Gestión Sacramental y Pastoral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53167" y="6510528"/>
            <a:ext cx="1371600" cy="3474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 i="0">
                <a:solidFill>
                  <a:srgbClr val="7D1A30"/>
                </a:solidFill>
                <a:latin typeface="Segoe UI"/>
              </a:rPr>
              <a:t>14 / 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115568"/>
            <a:ext cx="1105783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433E39"/>
                </a:solidFill>
                <a:latin typeface="Segoe UI"/>
              </a:rPr>
              <a:t>El sistema informa el resultado de cada acción del usuario mediante notificaciones y estados de pantalla.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" y="2257282"/>
            <a:ext cx="5410047" cy="3422427"/>
          </a:xfrm>
          <a:prstGeom prst="rect">
            <a:avLst/>
          </a:prstGeom>
          <a:solidFill>
            <a:srgbClr val="FFFFFF"/>
          </a:solidFill>
          <a:ln w="12700">
            <a:solidFill>
              <a:srgbClr val="C3B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16_mensaje_exi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12146"/>
            <a:ext cx="5300319" cy="331269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269583" y="2257282"/>
            <a:ext cx="5410047" cy="3422427"/>
          </a:xfrm>
          <a:prstGeom prst="rect">
            <a:avLst/>
          </a:prstGeom>
          <a:solidFill>
            <a:srgbClr val="FFFFFF"/>
          </a:solidFill>
          <a:ln w="12700">
            <a:solidFill>
              <a:srgbClr val="C3B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17_sin_resulta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447" y="2312146"/>
            <a:ext cx="5300319" cy="331269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66928" y="5998464"/>
            <a:ext cx="530031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5C061B"/>
                </a:solidFill>
                <a:latin typeface="Segoe UI"/>
              </a:rPr>
              <a:t>Operación exitosa</a:t>
            </a:r>
          </a:p>
          <a:p>
            <a:pPr algn="ctr"/>
            <a:r>
              <a:rPr sz="1050" b="0" i="0">
                <a:solidFill>
                  <a:srgbClr val="433E39"/>
                </a:solidFill>
                <a:latin typeface="Segoe UI"/>
              </a:rPr>
              <a:t>Confirma cuando una acción se completa correctamente.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5998464"/>
            <a:ext cx="530031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5C061B"/>
                </a:solidFill>
                <a:latin typeface="Segoe UI"/>
              </a:rPr>
              <a:t>Sin resultados</a:t>
            </a:r>
          </a:p>
          <a:p>
            <a:pPr algn="ctr"/>
            <a:r>
              <a:rPr sz="1050" b="0" i="0">
                <a:solidFill>
                  <a:srgbClr val="433E39"/>
                </a:solidFill>
                <a:latin typeface="Segoe UI"/>
              </a:rPr>
              <a:t>Avisa cuando la búsqueda no encuentra registros.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5C0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6576"/>
            <a:ext cx="8131759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Impresión de celebración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98687" y="36576"/>
            <a:ext cx="292608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 i="0">
                <a:solidFill>
                  <a:srgbClr val="F6ECCF"/>
                </a:solidFill>
                <a:latin typeface="Segoe UI"/>
              </a:rPr>
              <a:t>MÓDULO CELEBRACIONES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1"/>
          </a:xfrm>
          <a:prstGeom prst="rect">
            <a:avLst/>
          </a:prstGeom>
          <a:solidFill>
            <a:srgbClr val="F1E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18288"/>
          </a:xfrm>
          <a:prstGeom prst="rect">
            <a:avLst/>
          </a:prstGeom>
          <a:solidFill>
            <a:srgbClr val="C3B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9686239" cy="3474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i="0">
                <a:solidFill>
                  <a:srgbClr val="6F6A64"/>
                </a:solidFill>
                <a:latin typeface="Segoe UI"/>
              </a:rPr>
              <a:t>Módulo Celebraciones · Sistema Integral de Gestión Sacramental y Pastoral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53167" y="6510528"/>
            <a:ext cx="1371600" cy="3474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 i="0">
                <a:solidFill>
                  <a:srgbClr val="7D1A30"/>
                </a:solidFill>
                <a:latin typeface="Segoe UI"/>
              </a:rPr>
              <a:t>15 / 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161288"/>
            <a:ext cx="3931920" cy="24391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250" b="0" i="0" dirty="0">
                <a:latin typeface="Segoe UI"/>
              </a:rPr>
              <a:t>•  Vista con la </a:t>
            </a:r>
            <a:r>
              <a:rPr sz="1250" b="0" i="0" dirty="0" err="1">
                <a:latin typeface="Segoe UI"/>
              </a:rPr>
              <a:t>información</a:t>
            </a:r>
            <a:r>
              <a:rPr sz="1250" b="0" i="0" dirty="0">
                <a:latin typeface="Segoe UI"/>
              </a:rPr>
              <a:t> </a:t>
            </a:r>
            <a:r>
              <a:rPr sz="1250" b="0" i="0" dirty="0" err="1">
                <a:latin typeface="Segoe UI"/>
              </a:rPr>
              <a:t>preparada</a:t>
            </a:r>
            <a:r>
              <a:rPr sz="1250" b="0" i="0" dirty="0">
                <a:latin typeface="Segoe UI"/>
              </a:rPr>
              <a:t> para </a:t>
            </a:r>
            <a:r>
              <a:rPr sz="1250" b="0" i="0" dirty="0" err="1">
                <a:latin typeface="Segoe UI"/>
              </a:rPr>
              <a:t>impresión</a:t>
            </a:r>
            <a:r>
              <a:rPr sz="1250" b="0" i="0" dirty="0">
                <a:latin typeface="Segoe UI"/>
              </a:rPr>
              <a:t>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250" b="0" i="0" dirty="0">
                <a:latin typeface="Segoe UI"/>
              </a:rPr>
              <a:t>•  </a:t>
            </a:r>
            <a:r>
              <a:rPr sz="1250" b="0" i="0" dirty="0" err="1">
                <a:latin typeface="Segoe UI"/>
              </a:rPr>
              <a:t>Encabezado</a:t>
            </a:r>
            <a:r>
              <a:rPr sz="1250" b="0" i="0" dirty="0">
                <a:latin typeface="Segoe UI"/>
              </a:rPr>
              <a:t> con </a:t>
            </a:r>
            <a:r>
              <a:rPr sz="1250" b="0" i="0" dirty="0" err="1">
                <a:latin typeface="Segoe UI"/>
              </a:rPr>
              <a:t>los</a:t>
            </a:r>
            <a:r>
              <a:rPr sz="1250" b="0" i="0" dirty="0">
                <a:latin typeface="Segoe UI"/>
              </a:rPr>
              <a:t> </a:t>
            </a:r>
            <a:r>
              <a:rPr sz="1250" b="0" i="0" dirty="0" err="1">
                <a:latin typeface="Segoe UI"/>
              </a:rPr>
              <a:t>datos</a:t>
            </a:r>
            <a:r>
              <a:rPr sz="1250" b="0" i="0" dirty="0">
                <a:latin typeface="Segoe UI"/>
              </a:rPr>
              <a:t> de la </a:t>
            </a:r>
            <a:r>
              <a:rPr sz="1250" b="0" i="0" dirty="0" err="1">
                <a:latin typeface="Segoe UI"/>
              </a:rPr>
              <a:t>parroquia</a:t>
            </a:r>
            <a:r>
              <a:rPr sz="1250" b="0" i="0" dirty="0">
                <a:latin typeface="Segoe UI"/>
              </a:rPr>
              <a:t> y el </a:t>
            </a:r>
            <a:r>
              <a:rPr sz="1250" b="0" i="0" dirty="0" err="1">
                <a:latin typeface="Segoe UI"/>
              </a:rPr>
              <a:t>rango</a:t>
            </a:r>
            <a:r>
              <a:rPr sz="1250" b="0" i="0" dirty="0">
                <a:latin typeface="Segoe UI"/>
              </a:rPr>
              <a:t> de </a:t>
            </a:r>
            <a:r>
              <a:rPr sz="1250" b="0" i="0" dirty="0" err="1">
                <a:latin typeface="Segoe UI"/>
              </a:rPr>
              <a:t>fechas</a:t>
            </a:r>
            <a:r>
              <a:rPr sz="1250" b="0" i="0" dirty="0">
                <a:latin typeface="Segoe UI"/>
              </a:rPr>
              <a:t>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250" b="0" i="0" dirty="0">
                <a:latin typeface="Segoe UI"/>
              </a:rPr>
              <a:t>•  </a:t>
            </a:r>
            <a:r>
              <a:rPr sz="1250" b="0" i="0" dirty="0" err="1">
                <a:latin typeface="Segoe UI"/>
              </a:rPr>
              <a:t>Tabla</a:t>
            </a:r>
            <a:r>
              <a:rPr sz="1250" b="0" i="0" dirty="0">
                <a:latin typeface="Segoe UI"/>
              </a:rPr>
              <a:t> con </a:t>
            </a:r>
            <a:r>
              <a:rPr sz="1250" b="0" i="0" dirty="0" err="1">
                <a:latin typeface="Segoe UI"/>
              </a:rPr>
              <a:t>fecha</a:t>
            </a:r>
            <a:r>
              <a:rPr sz="1250" b="0" i="0" dirty="0">
                <a:latin typeface="Segoe UI"/>
              </a:rPr>
              <a:t>, hora, </a:t>
            </a:r>
            <a:r>
              <a:rPr sz="1250" b="0" i="0" dirty="0" err="1">
                <a:latin typeface="Segoe UI"/>
              </a:rPr>
              <a:t>celebración</a:t>
            </a:r>
            <a:r>
              <a:rPr sz="1250" b="0" i="0" dirty="0">
                <a:latin typeface="Segoe UI"/>
              </a:rPr>
              <a:t>, </a:t>
            </a:r>
            <a:r>
              <a:rPr sz="1250" b="0" i="0" dirty="0" err="1">
                <a:latin typeface="Segoe UI"/>
              </a:rPr>
              <a:t>lugar</a:t>
            </a:r>
            <a:r>
              <a:rPr sz="1250" b="0" i="0" dirty="0">
                <a:latin typeface="Segoe UI"/>
              </a:rPr>
              <a:t> y </a:t>
            </a:r>
            <a:r>
              <a:rPr sz="1250" b="0" i="0" dirty="0" err="1">
                <a:latin typeface="Segoe UI"/>
              </a:rPr>
              <a:t>celebrante</a:t>
            </a:r>
            <a:r>
              <a:rPr sz="1250" b="0" i="0" dirty="0">
                <a:latin typeface="Segoe UI"/>
              </a:rPr>
              <a:t>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250" b="0" i="0" dirty="0">
                <a:latin typeface="Segoe UI"/>
              </a:rPr>
              <a:t>•  Presentación </a:t>
            </a:r>
            <a:r>
              <a:rPr sz="1250" b="0" i="0" dirty="0" err="1">
                <a:latin typeface="Segoe UI"/>
              </a:rPr>
              <a:t>ordenada</a:t>
            </a:r>
            <a:r>
              <a:rPr sz="1250" b="0" i="0" dirty="0">
                <a:latin typeface="Segoe UI"/>
              </a:rPr>
              <a:t> y formal de la </a:t>
            </a:r>
            <a:r>
              <a:rPr sz="1250" b="0" i="0" dirty="0" err="1">
                <a:latin typeface="Segoe UI"/>
              </a:rPr>
              <a:t>programación</a:t>
            </a:r>
            <a:r>
              <a:rPr sz="1250" b="0" i="0" dirty="0">
                <a:latin typeface="Segoe UI"/>
              </a:rPr>
              <a:t>.</a:t>
            </a:r>
          </a:p>
          <a:p>
            <a:pPr>
              <a:spcAft>
                <a:spcPts val="900"/>
              </a:spcAft>
            </a:pPr>
            <a:r>
              <a:rPr sz="1250" b="0" i="0" dirty="0">
                <a:latin typeface="Segoe UI"/>
              </a:rPr>
              <a:t>•</a:t>
            </a:r>
            <a:r>
              <a:rPr lang="es-GT" sz="1400" dirty="0"/>
              <a:t>Acciones disponibles en el diseño: Imprimir y Volver.</a:t>
            </a:r>
            <a:endParaRPr sz="1250" b="0" i="0" dirty="0">
              <a:latin typeface="Segoe U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878991" y="1060704"/>
            <a:ext cx="6710361" cy="5449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3B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18_impresion_celebr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3855" y="1115568"/>
            <a:ext cx="6600633" cy="534009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5C0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6576"/>
            <a:ext cx="8131759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Reglas y validaciones principales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98687" y="36576"/>
            <a:ext cx="292608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 i="0">
                <a:solidFill>
                  <a:srgbClr val="F6ECCF"/>
                </a:solidFill>
                <a:latin typeface="Segoe UI"/>
              </a:rPr>
              <a:t>MÓDULO CELEBRACIONES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1"/>
          </a:xfrm>
          <a:prstGeom prst="rect">
            <a:avLst/>
          </a:prstGeom>
          <a:solidFill>
            <a:srgbClr val="F1E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18288"/>
          </a:xfrm>
          <a:prstGeom prst="rect">
            <a:avLst/>
          </a:prstGeom>
          <a:solidFill>
            <a:srgbClr val="C3B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9686239" cy="3474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i="0">
                <a:solidFill>
                  <a:srgbClr val="6F6A64"/>
                </a:solidFill>
                <a:latin typeface="Segoe UI"/>
              </a:rPr>
              <a:t>Módulo Celebraciones · Sistema Integral de Gestión Sacramental y Pastoral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53167" y="6510528"/>
            <a:ext cx="1371600" cy="3474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 i="0">
                <a:solidFill>
                  <a:srgbClr val="7D1A30"/>
                </a:solidFill>
                <a:latin typeface="Segoe UI"/>
              </a:rPr>
              <a:t>16 / 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115568"/>
            <a:ext cx="1105783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433E39"/>
                </a:solidFill>
                <a:latin typeface="Segoe UI"/>
              </a:rPr>
              <a:t>Reglas comprobadas en el mockup del módulo Celebraciones.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1847088"/>
            <a:ext cx="5346039" cy="731520"/>
          </a:xfrm>
          <a:prstGeom prst="roundRect">
            <a:avLst>
              <a:gd name="adj" fmla="val 8000"/>
            </a:avLst>
          </a:prstGeom>
          <a:solidFill>
            <a:srgbClr val="F1ECDF"/>
          </a:solidFill>
          <a:ln w="9525">
            <a:solidFill>
              <a:srgbClr val="C3B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2121408"/>
            <a:ext cx="182880" cy="1828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42416" y="1847088"/>
            <a:ext cx="4687671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433E39"/>
                </a:solidFill>
                <a:latin typeface="Segoe UI"/>
              </a:rPr>
              <a:t>Campos obligatorios antes de guardar.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8727" y="1847088"/>
            <a:ext cx="5346039" cy="731520"/>
          </a:xfrm>
          <a:prstGeom prst="roundRect">
            <a:avLst>
              <a:gd name="adj" fmla="val 8000"/>
            </a:avLst>
          </a:prstGeom>
          <a:solidFill>
            <a:srgbClr val="F1ECDF"/>
          </a:solidFill>
          <a:ln w="9525">
            <a:solidFill>
              <a:srgbClr val="C3B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43319" y="2121408"/>
            <a:ext cx="182880" cy="1828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54215" y="1847088"/>
            <a:ext cx="4687671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433E39"/>
                </a:solidFill>
                <a:latin typeface="Segoe UI"/>
              </a:rPr>
              <a:t>Hora final posterior a la hora de inicio.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2706624"/>
            <a:ext cx="5346039" cy="731520"/>
          </a:xfrm>
          <a:prstGeom prst="roundRect">
            <a:avLst>
              <a:gd name="adj" fmla="val 8000"/>
            </a:avLst>
          </a:prstGeom>
          <a:solidFill>
            <a:srgbClr val="F1ECDF"/>
          </a:solidFill>
          <a:ln w="9525">
            <a:solidFill>
              <a:srgbClr val="C3B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2980944"/>
            <a:ext cx="182880" cy="1828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42416" y="2706624"/>
            <a:ext cx="4687671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433E39"/>
                </a:solidFill>
                <a:latin typeface="Segoe UI"/>
              </a:rPr>
              <a:t>Selección obligatoria del tipo de celebración.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78727" y="2706624"/>
            <a:ext cx="5346039" cy="731520"/>
          </a:xfrm>
          <a:prstGeom prst="roundRect">
            <a:avLst>
              <a:gd name="adj" fmla="val 8000"/>
            </a:avLst>
          </a:prstGeom>
          <a:solidFill>
            <a:srgbClr val="F1ECDF"/>
          </a:solidFill>
          <a:ln w="9525">
            <a:solidFill>
              <a:srgbClr val="C3B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43319" y="2980944"/>
            <a:ext cx="182880" cy="1828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54215" y="2706624"/>
            <a:ext cx="4687671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433E39"/>
                </a:solidFill>
                <a:latin typeface="Segoe UI"/>
              </a:rPr>
              <a:t>Selección obligatoria del lugar.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566160"/>
            <a:ext cx="5346039" cy="731520"/>
          </a:xfrm>
          <a:prstGeom prst="roundRect">
            <a:avLst>
              <a:gd name="adj" fmla="val 8000"/>
            </a:avLst>
          </a:prstGeom>
          <a:solidFill>
            <a:srgbClr val="F1ECDF"/>
          </a:solidFill>
          <a:ln w="9525">
            <a:solidFill>
              <a:srgbClr val="C3B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1520" y="3840480"/>
            <a:ext cx="182880" cy="1828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42416" y="3566160"/>
            <a:ext cx="4687671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433E39"/>
                </a:solidFill>
                <a:latin typeface="Segoe UI"/>
              </a:rPr>
              <a:t>Confirmación previa antes de eliminar.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8727" y="3566160"/>
            <a:ext cx="5346039" cy="731520"/>
          </a:xfrm>
          <a:prstGeom prst="roundRect">
            <a:avLst>
              <a:gd name="adj" fmla="val 8000"/>
            </a:avLst>
          </a:prstGeom>
          <a:solidFill>
            <a:srgbClr val="F1ECDF"/>
          </a:solidFill>
          <a:ln w="9525">
            <a:solidFill>
              <a:srgbClr val="C3B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43319" y="3840480"/>
            <a:ext cx="182880" cy="1828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54215" y="3566160"/>
            <a:ext cx="4687671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433E39"/>
                </a:solidFill>
                <a:latin typeface="Segoe UI"/>
              </a:rPr>
              <a:t>Identificación de un único celebrante principal.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425696"/>
            <a:ext cx="5346039" cy="731520"/>
          </a:xfrm>
          <a:prstGeom prst="roundRect">
            <a:avLst>
              <a:gd name="adj" fmla="val 8000"/>
            </a:avLst>
          </a:prstGeom>
          <a:solidFill>
            <a:srgbClr val="F1ECDF"/>
          </a:solidFill>
          <a:ln w="9525">
            <a:solidFill>
              <a:srgbClr val="C3B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31520" y="4700016"/>
            <a:ext cx="182880" cy="1828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42416" y="4425696"/>
            <a:ext cx="4687671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433E39"/>
                </a:solidFill>
                <a:latin typeface="Segoe UI"/>
              </a:rPr>
              <a:t>Manejo de estados de la celebración.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78727" y="4425696"/>
            <a:ext cx="5346039" cy="731520"/>
          </a:xfrm>
          <a:prstGeom prst="roundRect">
            <a:avLst>
              <a:gd name="adj" fmla="val 8000"/>
            </a:avLst>
          </a:prstGeom>
          <a:solidFill>
            <a:srgbClr val="F1ECDF"/>
          </a:solidFill>
          <a:ln w="9525">
            <a:solidFill>
              <a:srgbClr val="C3B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443319" y="4700016"/>
            <a:ext cx="182880" cy="1828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54215" y="4425696"/>
            <a:ext cx="4687671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433E39"/>
                </a:solidFill>
                <a:latin typeface="Segoe UI"/>
              </a:rPr>
              <a:t>Mensajes de éxito al completar una operación.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5285232"/>
            <a:ext cx="5346039" cy="731520"/>
          </a:xfrm>
          <a:prstGeom prst="roundRect">
            <a:avLst>
              <a:gd name="adj" fmla="val 8000"/>
            </a:avLst>
          </a:prstGeom>
          <a:solidFill>
            <a:srgbClr val="F1ECDF"/>
          </a:solidFill>
          <a:ln w="9525">
            <a:solidFill>
              <a:srgbClr val="C3B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31520" y="5559552"/>
            <a:ext cx="182880" cy="1828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42416" y="5285232"/>
            <a:ext cx="4687671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433E39"/>
                </a:solidFill>
                <a:latin typeface="Segoe UI"/>
              </a:rPr>
              <a:t>Estado «sin resultados» en búsquedas sin coincidencias.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5C0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6576"/>
            <a:ext cx="8131759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Navegación del módulo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98687" y="36576"/>
            <a:ext cx="292608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 i="0">
                <a:solidFill>
                  <a:srgbClr val="F6ECCF"/>
                </a:solidFill>
                <a:latin typeface="Segoe UI"/>
              </a:rPr>
              <a:t>MÓDULO CELEBRACIONES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1"/>
          </a:xfrm>
          <a:prstGeom prst="rect">
            <a:avLst/>
          </a:prstGeom>
          <a:solidFill>
            <a:srgbClr val="F1E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18288"/>
          </a:xfrm>
          <a:prstGeom prst="rect">
            <a:avLst/>
          </a:prstGeom>
          <a:solidFill>
            <a:srgbClr val="C3B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9686239" cy="3474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i="0">
                <a:solidFill>
                  <a:srgbClr val="6F6A64"/>
                </a:solidFill>
                <a:latin typeface="Segoe UI"/>
              </a:rPr>
              <a:t>Módulo Celebraciones · Sistema Integral de Gestión Sacramental y Pastoral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53167" y="6510528"/>
            <a:ext cx="1371600" cy="3474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 i="0">
                <a:solidFill>
                  <a:srgbClr val="7D1A30"/>
                </a:solidFill>
                <a:latin typeface="Segoe UI"/>
              </a:rPr>
              <a:t>17 / 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246120"/>
            <a:ext cx="2286000" cy="640080"/>
          </a:xfrm>
          <a:prstGeom prst="roundRect">
            <a:avLst>
              <a:gd name="adj" fmla="val 18000"/>
            </a:avLst>
          </a:prstGeom>
          <a:solidFill>
            <a:srgbClr val="5C061B"/>
          </a:solidFill>
          <a:ln w="15240">
            <a:solidFill>
              <a:srgbClr val="4A05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CELEBRACIONES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50208" y="1874519"/>
            <a:ext cx="2286000" cy="548640"/>
          </a:xfrm>
          <a:prstGeom prst="roundRect">
            <a:avLst>
              <a:gd name="adj" fmla="val 18000"/>
            </a:avLst>
          </a:prstGeom>
          <a:solidFill>
            <a:srgbClr val="F1ECDF"/>
          </a:solidFill>
          <a:ln w="15240">
            <a:solidFill>
              <a:srgbClr val="C9A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/>
            <a:r>
              <a:rPr sz="1150" b="1">
                <a:solidFill>
                  <a:srgbClr val="5C061B"/>
                </a:solidFill>
                <a:latin typeface="Segoe UI"/>
              </a:rPr>
              <a:t>Listado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50208" y="4526280"/>
            <a:ext cx="2286000" cy="548640"/>
          </a:xfrm>
          <a:prstGeom prst="roundRect">
            <a:avLst>
              <a:gd name="adj" fmla="val 18000"/>
            </a:avLst>
          </a:prstGeom>
          <a:solidFill>
            <a:srgbClr val="F1ECDF"/>
          </a:solidFill>
          <a:ln w="15240">
            <a:solidFill>
              <a:srgbClr val="C9A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/>
            <a:r>
              <a:rPr sz="1150" b="1">
                <a:solidFill>
                  <a:srgbClr val="5C061B"/>
                </a:solidFill>
                <a:latin typeface="Segoe UI"/>
              </a:rPr>
              <a:t>Calendario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3035808" y="2148839"/>
            <a:ext cx="914400" cy="1417321"/>
          </a:xfrm>
          <a:prstGeom prst="bentConnector3">
            <a:avLst/>
          </a:prstGeom>
          <a:ln w="15875">
            <a:solidFill>
              <a:srgbClr val="C9A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035808" y="3566160"/>
            <a:ext cx="914400" cy="1234440"/>
          </a:xfrm>
          <a:prstGeom prst="bentConnector3">
            <a:avLst/>
          </a:prstGeom>
          <a:ln w="15875">
            <a:solidFill>
              <a:srgbClr val="C9A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059168" y="1261872"/>
            <a:ext cx="2286000" cy="548640"/>
          </a:xfrm>
          <a:prstGeom prst="roundRect">
            <a:avLst>
              <a:gd name="adj" fmla="val 18000"/>
            </a:avLst>
          </a:prstGeom>
          <a:solidFill>
            <a:srgbClr val="F1ECDF"/>
          </a:solidFill>
          <a:ln w="15240">
            <a:solidFill>
              <a:srgbClr val="C9A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/>
            <a:r>
              <a:rPr sz="1050" b="1">
                <a:solidFill>
                  <a:srgbClr val="5C061B"/>
                </a:solidFill>
                <a:latin typeface="Segoe UI"/>
              </a:rPr>
              <a:t>Nueva celebración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6236208" y="1536192"/>
            <a:ext cx="822960" cy="612647"/>
          </a:xfrm>
          <a:prstGeom prst="bentConnector3">
            <a:avLst/>
          </a:prstGeom>
          <a:ln w="15875">
            <a:solidFill>
              <a:srgbClr val="C9A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059168" y="2011680"/>
            <a:ext cx="2286000" cy="548640"/>
          </a:xfrm>
          <a:prstGeom prst="roundRect">
            <a:avLst>
              <a:gd name="adj" fmla="val 18000"/>
            </a:avLst>
          </a:prstGeom>
          <a:solidFill>
            <a:srgbClr val="F1ECDF"/>
          </a:solidFill>
          <a:ln w="15240">
            <a:solidFill>
              <a:srgbClr val="C9A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/>
            <a:r>
              <a:rPr sz="1050" b="1">
                <a:solidFill>
                  <a:srgbClr val="5C061B"/>
                </a:solidFill>
                <a:latin typeface="Segoe UI"/>
              </a:rPr>
              <a:t>Ver detalle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236208" y="2148839"/>
            <a:ext cx="822960" cy="137161"/>
          </a:xfrm>
          <a:prstGeom prst="bentConnector3">
            <a:avLst/>
          </a:prstGeom>
          <a:ln w="15875">
            <a:solidFill>
              <a:srgbClr val="C9A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059168" y="2761488"/>
            <a:ext cx="2286000" cy="548640"/>
          </a:xfrm>
          <a:prstGeom prst="roundRect">
            <a:avLst>
              <a:gd name="adj" fmla="val 18000"/>
            </a:avLst>
          </a:prstGeom>
          <a:solidFill>
            <a:srgbClr val="F1ECDF"/>
          </a:solidFill>
          <a:ln w="15240">
            <a:solidFill>
              <a:srgbClr val="C9A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/>
            <a:r>
              <a:rPr sz="1050" b="1">
                <a:solidFill>
                  <a:srgbClr val="5C061B"/>
                </a:solidFill>
                <a:latin typeface="Segoe UI"/>
              </a:rPr>
              <a:t>Filtros / búsqueda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236208" y="2148839"/>
            <a:ext cx="822960" cy="886969"/>
          </a:xfrm>
          <a:prstGeom prst="bentConnector3">
            <a:avLst/>
          </a:prstGeom>
          <a:ln w="15875">
            <a:solidFill>
              <a:srgbClr val="C9A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122408" y="1591056"/>
            <a:ext cx="1783080" cy="493776"/>
          </a:xfrm>
          <a:prstGeom prst="roundRect">
            <a:avLst>
              <a:gd name="adj" fmla="val 18000"/>
            </a:avLst>
          </a:prstGeom>
          <a:solidFill>
            <a:srgbClr val="FAF7F0"/>
          </a:solidFill>
          <a:ln w="15240">
            <a:solidFill>
              <a:srgbClr val="C9A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/>
            <a:r>
              <a:rPr sz="1050" b="1">
                <a:solidFill>
                  <a:srgbClr val="5C061B"/>
                </a:solidFill>
                <a:latin typeface="Segoe UI"/>
              </a:rPr>
              <a:t>Editar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9345168" y="1837943"/>
            <a:ext cx="777240" cy="448057"/>
          </a:xfrm>
          <a:prstGeom prst="bentConnector3">
            <a:avLst/>
          </a:prstGeom>
          <a:ln w="15875">
            <a:solidFill>
              <a:srgbClr val="C9A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122408" y="2212848"/>
            <a:ext cx="1783080" cy="493776"/>
          </a:xfrm>
          <a:prstGeom prst="roundRect">
            <a:avLst>
              <a:gd name="adj" fmla="val 18000"/>
            </a:avLst>
          </a:prstGeom>
          <a:solidFill>
            <a:srgbClr val="FAF7F0"/>
          </a:solidFill>
          <a:ln w="15240">
            <a:solidFill>
              <a:srgbClr val="C9A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/>
            <a:r>
              <a:rPr sz="1050" b="1">
                <a:solidFill>
                  <a:srgbClr val="5C061B"/>
                </a:solidFill>
                <a:latin typeface="Segoe UI"/>
              </a:rPr>
              <a:t>Imprimir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45168" y="2286000"/>
            <a:ext cx="777240" cy="173736"/>
          </a:xfrm>
          <a:prstGeom prst="bentConnector3">
            <a:avLst/>
          </a:prstGeom>
          <a:ln w="15875">
            <a:solidFill>
              <a:srgbClr val="C9A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122408" y="2834640"/>
            <a:ext cx="1783080" cy="493776"/>
          </a:xfrm>
          <a:prstGeom prst="roundRect">
            <a:avLst>
              <a:gd name="adj" fmla="val 18000"/>
            </a:avLst>
          </a:prstGeom>
          <a:solidFill>
            <a:srgbClr val="FAF7F0"/>
          </a:solidFill>
          <a:ln w="15240">
            <a:solidFill>
              <a:srgbClr val="C9A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/>
            <a:r>
              <a:rPr sz="1050" b="1">
                <a:solidFill>
                  <a:srgbClr val="5C061B"/>
                </a:solidFill>
                <a:latin typeface="Segoe UI"/>
              </a:rPr>
              <a:t>Eliminar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345168" y="2286000"/>
            <a:ext cx="777240" cy="795528"/>
          </a:xfrm>
          <a:prstGeom prst="bentConnector3">
            <a:avLst/>
          </a:prstGeom>
          <a:ln w="15875">
            <a:solidFill>
              <a:srgbClr val="C9A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059168" y="3611880"/>
            <a:ext cx="1645920" cy="493776"/>
          </a:xfrm>
          <a:prstGeom prst="roundRect">
            <a:avLst>
              <a:gd name="adj" fmla="val 18000"/>
            </a:avLst>
          </a:prstGeom>
          <a:solidFill>
            <a:srgbClr val="F1ECDF"/>
          </a:solidFill>
          <a:ln w="15240">
            <a:solidFill>
              <a:srgbClr val="C9A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/>
            <a:r>
              <a:rPr sz="1050" b="1">
                <a:solidFill>
                  <a:srgbClr val="5C061B"/>
                </a:solidFill>
                <a:latin typeface="Segoe UI"/>
              </a:rPr>
              <a:t>Día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6236208" y="3858768"/>
            <a:ext cx="822960" cy="941832"/>
          </a:xfrm>
          <a:prstGeom prst="bentConnector3">
            <a:avLst/>
          </a:prstGeom>
          <a:ln w="15875">
            <a:solidFill>
              <a:srgbClr val="C9A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059168" y="4224528"/>
            <a:ext cx="1645920" cy="493776"/>
          </a:xfrm>
          <a:prstGeom prst="roundRect">
            <a:avLst>
              <a:gd name="adj" fmla="val 18000"/>
            </a:avLst>
          </a:prstGeom>
          <a:solidFill>
            <a:srgbClr val="F1ECDF"/>
          </a:solidFill>
          <a:ln w="15240">
            <a:solidFill>
              <a:srgbClr val="C9A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/>
            <a:r>
              <a:rPr sz="1050" b="1">
                <a:solidFill>
                  <a:srgbClr val="5C061B"/>
                </a:solidFill>
                <a:latin typeface="Segoe UI"/>
              </a:rPr>
              <a:t>Laboral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6236208" y="4471416"/>
            <a:ext cx="822960" cy="329184"/>
          </a:xfrm>
          <a:prstGeom prst="bentConnector3">
            <a:avLst/>
          </a:prstGeom>
          <a:ln w="15875">
            <a:solidFill>
              <a:srgbClr val="C9A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059168" y="4837176"/>
            <a:ext cx="1645920" cy="493776"/>
          </a:xfrm>
          <a:prstGeom prst="roundRect">
            <a:avLst>
              <a:gd name="adj" fmla="val 18000"/>
            </a:avLst>
          </a:prstGeom>
          <a:solidFill>
            <a:srgbClr val="F1ECDF"/>
          </a:solidFill>
          <a:ln w="15240">
            <a:solidFill>
              <a:srgbClr val="C9A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/>
            <a:r>
              <a:rPr sz="1050" b="1">
                <a:solidFill>
                  <a:srgbClr val="5C061B"/>
                </a:solidFill>
                <a:latin typeface="Segoe UI"/>
              </a:rPr>
              <a:t>Semana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236208" y="4800600"/>
            <a:ext cx="822960" cy="283464"/>
          </a:xfrm>
          <a:prstGeom prst="bentConnector3">
            <a:avLst/>
          </a:prstGeom>
          <a:ln w="15875">
            <a:solidFill>
              <a:srgbClr val="C9A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059168" y="5449824"/>
            <a:ext cx="1645920" cy="493776"/>
          </a:xfrm>
          <a:prstGeom prst="roundRect">
            <a:avLst>
              <a:gd name="adj" fmla="val 18000"/>
            </a:avLst>
          </a:prstGeom>
          <a:solidFill>
            <a:srgbClr val="F1ECDF"/>
          </a:solidFill>
          <a:ln w="15240">
            <a:solidFill>
              <a:srgbClr val="C9A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/>
            <a:r>
              <a:rPr sz="1050" b="1">
                <a:solidFill>
                  <a:srgbClr val="5C061B"/>
                </a:solidFill>
                <a:latin typeface="Segoe UI"/>
              </a:rPr>
              <a:t>Mes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236208" y="4800600"/>
            <a:ext cx="822960" cy="896112"/>
          </a:xfrm>
          <a:prstGeom prst="bentConnector3">
            <a:avLst/>
          </a:prstGeom>
          <a:ln w="15875">
            <a:solidFill>
              <a:srgbClr val="C9A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5C0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36576"/>
            <a:ext cx="8131759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Resultado del diseño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98687" y="36576"/>
            <a:ext cx="292608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 i="0">
                <a:solidFill>
                  <a:srgbClr val="F6ECCF"/>
                </a:solidFill>
                <a:latin typeface="Segoe UI"/>
              </a:rPr>
              <a:t>MÓDULO CELEBRACIONES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1"/>
          </a:xfrm>
          <a:prstGeom prst="rect">
            <a:avLst/>
          </a:prstGeom>
          <a:solidFill>
            <a:srgbClr val="F1E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18288"/>
          </a:xfrm>
          <a:prstGeom prst="rect">
            <a:avLst/>
          </a:prstGeom>
          <a:solidFill>
            <a:srgbClr val="C3B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9686239" cy="3474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i="0">
                <a:solidFill>
                  <a:srgbClr val="6F6A64"/>
                </a:solidFill>
                <a:latin typeface="Segoe UI"/>
              </a:rPr>
              <a:t>Módulo Celebraciones · Sistema Integral de Gestión Sacramental y Pastoral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53167" y="6510528"/>
            <a:ext cx="1371600" cy="3474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 i="0">
                <a:solidFill>
                  <a:srgbClr val="7D1A30"/>
                </a:solidFill>
                <a:latin typeface="Segoe UI"/>
              </a:rPr>
              <a:t>18 / 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115568"/>
            <a:ext cx="1105783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433E39"/>
                </a:solidFill>
                <a:latin typeface="Segoe UI"/>
              </a:rPr>
              <a:t>El mockup del módulo Celebraciones deja definidos los siguientes elementos de diseño: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1984248"/>
            <a:ext cx="3503066" cy="548640"/>
          </a:xfrm>
          <a:prstGeom prst="roundRect">
            <a:avLst>
              <a:gd name="adj" fmla="val 8000"/>
            </a:avLst>
          </a:prstGeom>
          <a:solidFill>
            <a:srgbClr val="F1ECDF"/>
          </a:solidFill>
          <a:ln w="9525">
            <a:solidFill>
              <a:srgbClr val="C3B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1984248"/>
            <a:ext cx="322874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C061B"/>
                </a:solidFill>
                <a:latin typeface="Segoe UI"/>
              </a:rPr>
              <a:t>Estructura visual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4314" y="1984248"/>
            <a:ext cx="3503066" cy="548640"/>
          </a:xfrm>
          <a:prstGeom prst="roundRect">
            <a:avLst>
              <a:gd name="adj" fmla="val 8000"/>
            </a:avLst>
          </a:prstGeom>
          <a:solidFill>
            <a:srgbClr val="F1ECDF"/>
          </a:solidFill>
          <a:ln w="9525">
            <a:solidFill>
              <a:srgbClr val="C3B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27194" y="1984248"/>
            <a:ext cx="322874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C061B"/>
                </a:solidFill>
                <a:latin typeface="Segoe UI"/>
              </a:rPr>
              <a:t>Navegación entre pantallas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1700" y="1984248"/>
            <a:ext cx="3503066" cy="548640"/>
          </a:xfrm>
          <a:prstGeom prst="roundRect">
            <a:avLst>
              <a:gd name="adj" fmla="val 8000"/>
            </a:avLst>
          </a:prstGeom>
          <a:solidFill>
            <a:srgbClr val="F1ECDF"/>
          </a:solidFill>
          <a:ln w="9525">
            <a:solidFill>
              <a:srgbClr val="C3B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04580" y="1984248"/>
            <a:ext cx="322874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C061B"/>
                </a:solidFill>
                <a:latin typeface="Segoe UI"/>
              </a:rPr>
              <a:t>Formularios y secciones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2697480"/>
            <a:ext cx="3503066" cy="548640"/>
          </a:xfrm>
          <a:prstGeom prst="roundRect">
            <a:avLst>
              <a:gd name="adj" fmla="val 8000"/>
            </a:avLst>
          </a:prstGeom>
          <a:solidFill>
            <a:srgbClr val="F1ECDF"/>
          </a:solidFill>
          <a:ln w="9525">
            <a:solidFill>
              <a:srgbClr val="C3B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" y="2697480"/>
            <a:ext cx="322874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C061B"/>
                </a:solidFill>
                <a:latin typeface="Segoe UI"/>
              </a:rPr>
              <a:t>Tablas y columnas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4314" y="2697480"/>
            <a:ext cx="3503066" cy="548640"/>
          </a:xfrm>
          <a:prstGeom prst="roundRect">
            <a:avLst>
              <a:gd name="adj" fmla="val 8000"/>
            </a:avLst>
          </a:prstGeom>
          <a:solidFill>
            <a:srgbClr val="F1ECDF"/>
          </a:solidFill>
          <a:ln w="9525">
            <a:solidFill>
              <a:srgbClr val="C3B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27194" y="2697480"/>
            <a:ext cx="322874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C061B"/>
                </a:solidFill>
                <a:latin typeface="Segoe UI"/>
              </a:rPr>
              <a:t>Acciones y botones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21700" y="2697480"/>
            <a:ext cx="3503066" cy="548640"/>
          </a:xfrm>
          <a:prstGeom prst="roundRect">
            <a:avLst>
              <a:gd name="adj" fmla="val 8000"/>
            </a:avLst>
          </a:prstGeom>
          <a:solidFill>
            <a:srgbClr val="F1ECDF"/>
          </a:solidFill>
          <a:ln w="9525">
            <a:solidFill>
              <a:srgbClr val="C3B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04580" y="2697480"/>
            <a:ext cx="322874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C061B"/>
                </a:solidFill>
                <a:latin typeface="Segoe UI"/>
              </a:rPr>
              <a:t>Modales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410712"/>
            <a:ext cx="3503066" cy="548640"/>
          </a:xfrm>
          <a:prstGeom prst="roundRect">
            <a:avLst>
              <a:gd name="adj" fmla="val 8000"/>
            </a:avLst>
          </a:prstGeom>
          <a:solidFill>
            <a:srgbClr val="F1ECDF"/>
          </a:solidFill>
          <a:ln w="9525">
            <a:solidFill>
              <a:srgbClr val="C3B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9808" y="3410712"/>
            <a:ext cx="322874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C061B"/>
                </a:solidFill>
                <a:latin typeface="Segoe UI"/>
              </a:rPr>
              <a:t>Validaciones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4314" y="3410712"/>
            <a:ext cx="3503066" cy="548640"/>
          </a:xfrm>
          <a:prstGeom prst="roundRect">
            <a:avLst>
              <a:gd name="adj" fmla="val 8000"/>
            </a:avLst>
          </a:prstGeom>
          <a:solidFill>
            <a:srgbClr val="F1ECDF"/>
          </a:solidFill>
          <a:ln w="9525">
            <a:solidFill>
              <a:srgbClr val="C3B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27194" y="3410712"/>
            <a:ext cx="322874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C061B"/>
                </a:solidFill>
                <a:latin typeface="Segoe UI"/>
              </a:rPr>
              <a:t>Calendario y sus vistas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21700" y="3410712"/>
            <a:ext cx="3503066" cy="548640"/>
          </a:xfrm>
          <a:prstGeom prst="roundRect">
            <a:avLst>
              <a:gd name="adj" fmla="val 8000"/>
            </a:avLst>
          </a:prstGeom>
          <a:solidFill>
            <a:srgbClr val="F1ECDF"/>
          </a:solidFill>
          <a:ln w="9525">
            <a:solidFill>
              <a:srgbClr val="C3B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04580" y="3410712"/>
            <a:ext cx="322874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C061B"/>
                </a:solidFill>
                <a:latin typeface="Segoe UI"/>
              </a:rPr>
              <a:t>Estados de celebración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123944"/>
            <a:ext cx="3503066" cy="548640"/>
          </a:xfrm>
          <a:prstGeom prst="roundRect">
            <a:avLst>
              <a:gd name="adj" fmla="val 8000"/>
            </a:avLst>
          </a:prstGeom>
          <a:solidFill>
            <a:srgbClr val="F1ECDF"/>
          </a:solidFill>
          <a:ln w="9525">
            <a:solidFill>
              <a:srgbClr val="C3B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9808" y="4123944"/>
            <a:ext cx="322874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C061B"/>
                </a:solidFill>
                <a:latin typeface="Segoe UI"/>
              </a:rPr>
              <a:t>Vista de impresión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440680"/>
            <a:ext cx="11057839" cy="932688"/>
          </a:xfrm>
          <a:prstGeom prst="roundRect">
            <a:avLst>
              <a:gd name="adj" fmla="val 8000"/>
            </a:avLst>
          </a:prstGeom>
          <a:solidFill>
            <a:srgbClr val="F1E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66928" y="5440680"/>
            <a:ext cx="82296" cy="93268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86967" y="5566412"/>
            <a:ext cx="10417759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s-GT" sz="1400" dirty="0"/>
              <a:t>Las pantallas, campos, acciones, estados, validaciones y flujos aquí definidos constituyen la referencia funcional y visual para la implementación del módulo Celebraciones</a:t>
            </a:r>
            <a:endParaRPr sz="1250" b="0" i="0" dirty="0">
              <a:solidFill>
                <a:srgbClr val="433E39"/>
              </a:solidFill>
              <a:latin typeface="Segoe U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1380</Words>
  <Application>Microsoft Office PowerPoint</Application>
  <PresentationFormat>Panorámica</PresentationFormat>
  <Paragraphs>212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Arial</vt:lpstr>
      <vt:lpstr>Calibri</vt:lpstr>
      <vt:lpstr>Segoe UI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Teddy Leonardo Hernandez</cp:lastModifiedBy>
  <cp:revision>1</cp:revision>
  <dcterms:created xsi:type="dcterms:W3CDTF">2013-01-27T09:14:16Z</dcterms:created>
  <dcterms:modified xsi:type="dcterms:W3CDTF">2026-09-02T13:14:03Z</dcterms:modified>
  <cp:category/>
</cp:coreProperties>
</file>